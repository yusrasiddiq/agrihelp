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788"/>
        </a:solidFill>
      </p:bgPr>
    </p:bg>
    <p:spTree>
      <p:nvGrpSpPr>
        <p:cNvPr id="1" name=""/>
        <p:cNvGrpSpPr/>
        <p:nvPr/>
      </p:nvGrpSpPr>
      <p:grpSpPr>
        <a:xfrm>
          <a:off x="0" y="0"/>
          <a:ext cx="0" cy="0"/>
          <a:chOff x="0" y="0"/>
          <a:chExt cx="0" cy="0"/>
        </a:xfrm>
      </p:grpSpPr>
      <p:sp>
        <p:nvSpPr>
          <p:cNvPr id="2" name="Text 0"/>
          <p:cNvSpPr/>
          <p:nvPr/>
        </p:nvSpPr>
        <p:spPr>
          <a:xfrm>
            <a:off x="457200" y="1371600"/>
            <a:ext cx="8229600" cy="1371600"/>
          </a:xfrm>
          <a:prstGeom prst="rect">
            <a:avLst/>
          </a:prstGeom>
          <a:noFill/>
          <a:ln/>
        </p:spPr>
        <p:txBody>
          <a:bodyPr wrap="square" rtlCol="0" anchor="ctr"/>
          <a:lstStyle/>
          <a:p>
            <a:pPr algn="ctr" indent="0" marL="0">
              <a:buNone/>
            </a:pPr>
            <a:r>
              <a:rPr lang="en-US" sz="4000" b="1" dirty="0">
                <a:solidFill>
                  <a:srgbClr val="FFFFFF"/>
                </a:solidFill>
              </a:rPr>
              <a:t>Moving Vehicle Registration Plate Detection</a:t>
            </a:r>
            <a:endParaRPr lang="en-US" sz="4000" dirty="0"/>
          </a:p>
        </p:txBody>
      </p:sp>
      <p:sp>
        <p:nvSpPr>
          <p:cNvPr id="3" name="Text 1"/>
          <p:cNvSpPr/>
          <p:nvPr/>
        </p:nvSpPr>
        <p:spPr>
          <a:xfrm>
            <a:off x="457200" y="2926080"/>
            <a:ext cx="8229600" cy="914400"/>
          </a:xfrm>
          <a:prstGeom prst="rect">
            <a:avLst/>
          </a:prstGeom>
          <a:noFill/>
          <a:ln/>
        </p:spPr>
        <p:txBody>
          <a:bodyPr wrap="square" rtlCol="0" anchor="ctr"/>
          <a:lstStyle/>
          <a:p>
            <a:pPr algn="ctr" indent="0" marL="0">
              <a:buNone/>
            </a:pPr>
            <a:r>
              <a:rPr lang="en-US" sz="2400" dirty="0">
                <a:solidFill>
                  <a:srgbClr val="FFFFFF"/>
                </a:solidFill>
              </a:rPr>
              <a:t>Oriental College Of Technology</a:t>
            </a:r>
            <a:endParaRPr lang="en-US" sz="2400" dirty="0"/>
          </a:p>
          <a:p>
            <a:pPr algn="ctr" indent="0" marL="0">
              <a:buNone/>
            </a:pPr>
            <a:r>
              <a:rPr lang="en-US" sz="2400" dirty="0">
                <a:solidFill>
                  <a:srgbClr val="FFFFFF"/>
                </a:solidFill>
              </a:rPr>
              <a:t>Department Of Data Science</a:t>
            </a:r>
            <a:endParaRPr lang="en-US" sz="2400" dirty="0"/>
          </a:p>
        </p:txBody>
      </p:sp>
      <p:sp>
        <p:nvSpPr>
          <p:cNvPr id="4" name="Text 2"/>
          <p:cNvSpPr/>
          <p:nvPr/>
        </p:nvSpPr>
        <p:spPr>
          <a:xfrm>
            <a:off x="457200" y="4114800"/>
            <a:ext cx="8229600" cy="365760"/>
          </a:xfrm>
          <a:prstGeom prst="rect">
            <a:avLst/>
          </a:prstGeom>
          <a:noFill/>
          <a:ln/>
        </p:spPr>
        <p:txBody>
          <a:bodyPr wrap="square" rtlCol="0" anchor="ctr"/>
          <a:lstStyle/>
          <a:p>
            <a:pPr algn="ctr" indent="0" marL="0">
              <a:buNone/>
            </a:pPr>
            <a:r>
              <a:rPr lang="en-US" sz="1800" b="1" dirty="0">
                <a:solidFill>
                  <a:srgbClr val="F39C12"/>
                </a:solidFill>
              </a:rPr>
              <a:t>Project by:</a:t>
            </a:r>
            <a:endParaRPr lang="en-US" sz="1800" dirty="0"/>
          </a:p>
        </p:txBody>
      </p:sp>
      <p:sp>
        <p:nvSpPr>
          <p:cNvPr id="5" name="Text 3"/>
          <p:cNvSpPr/>
          <p:nvPr/>
        </p:nvSpPr>
        <p:spPr>
          <a:xfrm>
            <a:off x="457200" y="4572000"/>
            <a:ext cx="8229600" cy="457200"/>
          </a:xfrm>
          <a:prstGeom prst="rect">
            <a:avLst/>
          </a:prstGeom>
          <a:noFill/>
          <a:ln/>
        </p:spPr>
        <p:txBody>
          <a:bodyPr wrap="square" rtlCol="0" anchor="ctr"/>
          <a:lstStyle/>
          <a:p>
            <a:pPr algn="ctr" indent="0" marL="0">
              <a:buNone/>
            </a:pPr>
            <a:r>
              <a:rPr lang="en-US" sz="1600" dirty="0">
                <a:solidFill>
                  <a:srgbClr val="FFFFFF"/>
                </a:solidFill>
              </a:rPr>
              <a:t>Yusra Siddiqui | Aman Meena | Vineet Bimal | Farah Khatoon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indent="0" marL="0">
              <a:buNone/>
            </a:pPr>
            <a:r>
              <a:rPr lang="en-US" sz="3600" b="1" dirty="0">
                <a:solidFill>
                  <a:srgbClr val="1F4788"/>
                </a:solidFill>
              </a:rPr>
              <a:t>Introduction</a:t>
            </a:r>
            <a:endParaRPr lang="en-US" sz="3600" dirty="0"/>
          </a:p>
        </p:txBody>
      </p:sp>
      <p:sp>
        <p:nvSpPr>
          <p:cNvPr id="3" name="Shape 1"/>
          <p:cNvSpPr/>
          <p:nvPr/>
        </p:nvSpPr>
        <p:spPr>
          <a:xfrm>
            <a:off x="457200" y="1097280"/>
            <a:ext cx="8229600" cy="45720"/>
          </a:xfrm>
          <a:prstGeom prst="rect">
            <a:avLst/>
          </a:prstGeom>
          <a:solidFill>
            <a:srgbClr val="F39C12"/>
          </a:solidFill>
          <a:ln/>
        </p:spPr>
      </p:sp>
      <p:sp>
        <p:nvSpPr>
          <p:cNvPr id="4" name="Text 2"/>
          <p:cNvSpPr/>
          <p:nvPr/>
        </p:nvSpPr>
        <p:spPr>
          <a:xfrm>
            <a:off x="731520" y="1645920"/>
            <a:ext cx="7772400" cy="3657600"/>
          </a:xfrm>
          <a:prstGeom prst="rect">
            <a:avLst/>
          </a:prstGeom>
          <a:noFill/>
          <a:ln/>
        </p:spPr>
        <p:txBody>
          <a:bodyPr wrap="square" rtlCol="0" anchor="t"/>
          <a:lstStyle/>
          <a:p>
            <a:pPr indent="0" marL="0">
              <a:buNone/>
            </a:pPr>
            <a:r>
              <a:rPr lang="en-US" sz="2000" dirty="0">
                <a:solidFill>
                  <a:srgbClr val="F39C12"/>
                </a:solidFill>
              </a:rPr>
              <a:t>• </a:t>
            </a:r>
            <a:pPr indent="0" marL="0">
              <a:buNone/>
            </a:pPr>
            <a:r>
              <a:rPr lang="en-US" sz="1800" dirty="0">
                <a:solidFill>
                  <a:srgbClr val="333333"/>
                </a:solidFill>
              </a:rPr>
              <a:t>Automatic Number Plate Recognition (ANPR) is a technology that uses optical character recognition to read vehicle registration plates
</a:t>
            </a:r>
            <a:pPr indent="0" marL="0">
              <a:buNone/>
            </a:pPr>
            <a:r>
              <a:rPr lang="en-US" sz="2000" dirty="0">
                <a:solidFill>
                  <a:srgbClr val="F39C12"/>
                </a:solidFill>
              </a:rPr>
              <a:t>• </a:t>
            </a:r>
            <a:pPr indent="0" marL="0">
              <a:buNone/>
            </a:pPr>
            <a:r>
              <a:rPr lang="en-US" sz="1800" dirty="0">
                <a:solidFill>
                  <a:srgbClr val="333333"/>
                </a:solidFill>
              </a:rPr>
              <a:t>This system detects and recognizes license plates from moving vehicles in real-time
</a:t>
            </a:r>
            <a:pPr indent="0" marL="0">
              <a:buNone/>
            </a:pPr>
            <a:r>
              <a:rPr lang="en-US" sz="2000" dirty="0">
                <a:solidFill>
                  <a:srgbClr val="F39C12"/>
                </a:solidFill>
              </a:rPr>
              <a:t>• </a:t>
            </a:r>
            <a:pPr indent="0" marL="0">
              <a:buNone/>
            </a:pPr>
            <a:r>
              <a:rPr lang="en-US" sz="1800" dirty="0">
                <a:solidFill>
                  <a:srgbClr val="333333"/>
                </a:solidFill>
              </a:rPr>
              <a:t>Applications include traffic monitoring, parking management, toll collection, and security surveillance
</a:t>
            </a:r>
            <a:pPr indent="0" marL="0">
              <a:buNone/>
            </a:pPr>
            <a:r>
              <a:rPr lang="en-US" sz="2000" dirty="0">
                <a:solidFill>
                  <a:srgbClr val="F39C12"/>
                </a:solidFill>
              </a:rPr>
              <a:t>• </a:t>
            </a:r>
            <a:pPr indent="0" marL="0">
              <a:buNone/>
            </a:pPr>
            <a:r>
              <a:rPr lang="en-US" sz="1800" dirty="0">
                <a:solidFill>
                  <a:srgbClr val="333333"/>
                </a:solidFill>
              </a:rPr>
              <a:t>Uses computer vision and machine learning techniques for accurate detection</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indent="0" marL="0">
              <a:buNone/>
            </a:pPr>
            <a:r>
              <a:rPr lang="en-US" sz="3600" b="1" dirty="0">
                <a:solidFill>
                  <a:srgbClr val="1F4788"/>
                </a:solidFill>
              </a:rPr>
              <a:t>Objectives</a:t>
            </a:r>
            <a:endParaRPr lang="en-US" sz="3600" dirty="0"/>
          </a:p>
        </p:txBody>
      </p:sp>
      <p:sp>
        <p:nvSpPr>
          <p:cNvPr id="3" name="Shape 1"/>
          <p:cNvSpPr/>
          <p:nvPr/>
        </p:nvSpPr>
        <p:spPr>
          <a:xfrm>
            <a:off x="457200" y="1097280"/>
            <a:ext cx="8229600" cy="45720"/>
          </a:xfrm>
          <a:prstGeom prst="rect">
            <a:avLst/>
          </a:prstGeom>
          <a:solidFill>
            <a:srgbClr val="F39C12"/>
          </a:solidFill>
          <a:ln/>
        </p:spPr>
      </p:sp>
      <p:sp>
        <p:nvSpPr>
          <p:cNvPr id="4" name="Text 2"/>
          <p:cNvSpPr/>
          <p:nvPr/>
        </p:nvSpPr>
        <p:spPr>
          <a:xfrm>
            <a:off x="731520" y="1645920"/>
            <a:ext cx="7772400" cy="3657600"/>
          </a:xfrm>
          <a:prstGeom prst="rect">
            <a:avLst/>
          </a:prstGeom>
          <a:noFill/>
          <a:ln/>
        </p:spPr>
        <p:txBody>
          <a:bodyPr wrap="square" rtlCol="0" anchor="t"/>
          <a:lstStyle/>
          <a:p>
            <a:pPr indent="0" marL="0">
              <a:buNone/>
            </a:pPr>
            <a:r>
              <a:rPr lang="en-US" sz="2000" b="1" dirty="0">
                <a:solidFill>
                  <a:srgbClr val="F39C12"/>
                </a:solidFill>
              </a:rPr>
              <a:t>1. </a:t>
            </a:r>
            <a:pPr indent="0" marL="0">
              <a:buNone/>
            </a:pPr>
            <a:r>
              <a:rPr lang="en-US" sz="1800" dirty="0">
                <a:solidFill>
                  <a:srgbClr val="333333"/>
                </a:solidFill>
              </a:rPr>
              <a:t>To develop an automated system for detecting vehicle registration plates from video streams
</a:t>
            </a:r>
            <a:pPr indent="0" marL="0">
              <a:buNone/>
            </a:pPr>
            <a:r>
              <a:rPr lang="en-US" sz="2000" b="1" dirty="0">
                <a:solidFill>
                  <a:srgbClr val="F39C12"/>
                </a:solidFill>
              </a:rPr>
              <a:t>2. </a:t>
            </a:r>
            <a:pPr indent="0" marL="0">
              <a:buNone/>
            </a:pPr>
            <a:r>
              <a:rPr lang="en-US" sz="1800" dirty="0">
                <a:solidFill>
                  <a:srgbClr val="333333"/>
                </a:solidFill>
              </a:rPr>
              <a:t>To extract and recognize alphanumeric characters from detected license plates
</a:t>
            </a:r>
            <a:pPr indent="0" marL="0">
              <a:buNone/>
            </a:pPr>
            <a:r>
              <a:rPr lang="en-US" sz="2000" b="1" dirty="0">
                <a:solidFill>
                  <a:srgbClr val="F39C12"/>
                </a:solidFill>
              </a:rPr>
              <a:t>3. </a:t>
            </a:r>
            <a:pPr indent="0" marL="0">
              <a:buNone/>
            </a:pPr>
            <a:r>
              <a:rPr lang="en-US" sz="1800" dirty="0">
                <a:solidFill>
                  <a:srgbClr val="333333"/>
                </a:solidFill>
              </a:rPr>
              <a:t>To achieve high accuracy in plate detection under various lighting and weather conditions
</a:t>
            </a:r>
            <a:pPr indent="0" marL="0">
              <a:buNone/>
            </a:pPr>
            <a:r>
              <a:rPr lang="en-US" sz="2000" b="1" dirty="0">
                <a:solidFill>
                  <a:srgbClr val="F39C12"/>
                </a:solidFill>
              </a:rPr>
              <a:t>4. </a:t>
            </a:r>
            <a:pPr indent="0" marL="0">
              <a:buNone/>
            </a:pPr>
            <a:r>
              <a:rPr lang="en-US" sz="1800" dirty="0">
                <a:solidFill>
                  <a:srgbClr val="333333"/>
                </a:solidFill>
              </a:rPr>
              <a:t>To process real-time video feeds with minimal latency
</a:t>
            </a:r>
            <a:pPr indent="0" marL="0">
              <a:buNone/>
            </a:pPr>
            <a:r>
              <a:rPr lang="en-US" sz="2000" b="1" dirty="0">
                <a:solidFill>
                  <a:srgbClr val="F39C12"/>
                </a:solidFill>
              </a:rPr>
              <a:t>5. </a:t>
            </a:r>
            <a:pPr indent="0" marL="0">
              <a:buNone/>
            </a:pPr>
            <a:r>
              <a:rPr lang="en-US" sz="1800" dirty="0">
                <a:solidFill>
                  <a:srgbClr val="333333"/>
                </a:solidFill>
              </a:rPr>
              <a:t>To create a scalable solution for traffic management and security applications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indent="0" marL="0">
              <a:buNone/>
            </a:pPr>
            <a:r>
              <a:rPr lang="en-US" sz="3600" b="1" dirty="0">
                <a:solidFill>
                  <a:srgbClr val="1F4788"/>
                </a:solidFill>
              </a:rPr>
              <a:t>Problem Statement</a:t>
            </a:r>
            <a:endParaRPr lang="en-US" sz="3600" dirty="0"/>
          </a:p>
        </p:txBody>
      </p:sp>
      <p:sp>
        <p:nvSpPr>
          <p:cNvPr id="3" name="Shape 1"/>
          <p:cNvSpPr/>
          <p:nvPr/>
        </p:nvSpPr>
        <p:spPr>
          <a:xfrm>
            <a:off x="457200" y="1097280"/>
            <a:ext cx="8229600" cy="45720"/>
          </a:xfrm>
          <a:prstGeom prst="rect">
            <a:avLst/>
          </a:prstGeom>
          <a:solidFill>
            <a:srgbClr val="F39C12"/>
          </a:solidFill>
          <a:ln/>
        </p:spPr>
      </p:sp>
      <p:sp>
        <p:nvSpPr>
          <p:cNvPr id="4" name="Text 2"/>
          <p:cNvSpPr/>
          <p:nvPr/>
        </p:nvSpPr>
        <p:spPr>
          <a:xfrm>
            <a:off x="731520" y="1645920"/>
            <a:ext cx="7772400" cy="365760"/>
          </a:xfrm>
          <a:prstGeom prst="rect">
            <a:avLst/>
          </a:prstGeom>
          <a:noFill/>
          <a:ln/>
        </p:spPr>
        <p:txBody>
          <a:bodyPr wrap="square" rtlCol="0" anchor="ctr"/>
          <a:lstStyle/>
          <a:p>
            <a:pPr indent="0" marL="0">
              <a:buNone/>
            </a:pPr>
            <a:r>
              <a:rPr lang="en-US" sz="2200" b="1" dirty="0">
                <a:solidFill>
                  <a:srgbClr val="2E5C8A"/>
                </a:solidFill>
              </a:rPr>
              <a:t>Challenges:</a:t>
            </a:r>
            <a:endParaRPr lang="en-US" sz="2200" dirty="0"/>
          </a:p>
        </p:txBody>
      </p:sp>
      <p:sp>
        <p:nvSpPr>
          <p:cNvPr id="5" name="Text 3"/>
          <p:cNvSpPr/>
          <p:nvPr/>
        </p:nvSpPr>
        <p:spPr>
          <a:xfrm>
            <a:off x="1097280" y="2103120"/>
            <a:ext cx="7315200" cy="3200400"/>
          </a:xfrm>
          <a:prstGeom prst="rect">
            <a:avLst/>
          </a:prstGeom>
          <a:noFill/>
          <a:ln/>
        </p:spPr>
        <p:txBody>
          <a:bodyPr wrap="square" rtlCol="0" anchor="t"/>
          <a:lstStyle/>
          <a:p>
            <a:pPr indent="0" marL="0">
              <a:buNone/>
            </a:pPr>
            <a:r>
              <a:rPr lang="en-US" sz="2000" dirty="0">
                <a:solidFill>
                  <a:srgbClr val="F39C12"/>
                </a:solidFill>
              </a:rPr>
              <a:t>• </a:t>
            </a:r>
            <a:pPr indent="0" marL="0">
              <a:buNone/>
            </a:pPr>
            <a:r>
              <a:rPr lang="en-US" sz="1800" dirty="0">
                <a:solidFill>
                  <a:srgbClr val="333333"/>
                </a:solidFill>
              </a:rPr>
              <a:t>Manual vehicle monitoring is time-consuming and error-prone
</a:t>
            </a:r>
            <a:pPr indent="0" marL="0">
              <a:buNone/>
            </a:pPr>
            <a:r>
              <a:rPr lang="en-US" sz="2000" dirty="0">
                <a:solidFill>
                  <a:srgbClr val="F39C12"/>
                </a:solidFill>
              </a:rPr>
              <a:t>• </a:t>
            </a:r>
            <a:pPr indent="0" marL="0">
              <a:buNone/>
            </a:pPr>
            <a:r>
              <a:rPr lang="en-US" sz="1800" dirty="0">
                <a:solidFill>
                  <a:srgbClr val="333333"/>
                </a:solidFill>
              </a:rPr>
              <a:t>Difficulty in tracking vehicles in high-traffic areas
</a:t>
            </a:r>
            <a:pPr indent="0" marL="0">
              <a:buNone/>
            </a:pPr>
            <a:r>
              <a:rPr lang="en-US" sz="2000" dirty="0">
                <a:solidFill>
                  <a:srgbClr val="F39C12"/>
                </a:solidFill>
              </a:rPr>
              <a:t>• </a:t>
            </a:r>
            <a:pPr indent="0" marL="0">
              <a:buNone/>
            </a:pPr>
            <a:r>
              <a:rPr lang="en-US" sz="1800" dirty="0">
                <a:solidFill>
                  <a:srgbClr val="333333"/>
                </a:solidFill>
              </a:rPr>
              <a:t>Varying plate formats, fonts, and sizes across different regions
</a:t>
            </a:r>
            <a:pPr indent="0" marL="0">
              <a:buNone/>
            </a:pPr>
            <a:r>
              <a:rPr lang="en-US" sz="2000" dirty="0">
                <a:solidFill>
                  <a:srgbClr val="F39C12"/>
                </a:solidFill>
              </a:rPr>
              <a:t>• </a:t>
            </a:r>
            <a:pPr indent="0" marL="0">
              <a:buNone/>
            </a:pPr>
            <a:r>
              <a:rPr lang="en-US" sz="1800" dirty="0">
                <a:solidFill>
                  <a:srgbClr val="333333"/>
                </a:solidFill>
              </a:rPr>
              <a:t>Environmental factors: lighting conditions, weather, camera angles
</a:t>
            </a:r>
            <a:pPr indent="0" marL="0">
              <a:buNone/>
            </a:pPr>
            <a:r>
              <a:rPr lang="en-US" sz="2000" dirty="0">
                <a:solidFill>
                  <a:srgbClr val="F39C12"/>
                </a:solidFill>
              </a:rPr>
              <a:t>• </a:t>
            </a:r>
            <a:pPr indent="0" marL="0">
              <a:buNone/>
            </a:pPr>
            <a:r>
              <a:rPr lang="en-US" sz="1800" dirty="0">
                <a:solidFill>
                  <a:srgbClr val="333333"/>
                </a:solidFill>
              </a:rPr>
              <a:t>Need for real-time processing with high accuracy</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indent="0" marL="0">
              <a:buNone/>
            </a:pPr>
            <a:r>
              <a:rPr lang="en-US" sz="3600" b="1" dirty="0">
                <a:solidFill>
                  <a:srgbClr val="1F4788"/>
                </a:solidFill>
              </a:rPr>
              <a:t>Technology Used</a:t>
            </a:r>
            <a:endParaRPr lang="en-US" sz="3600" dirty="0"/>
          </a:p>
        </p:txBody>
      </p:sp>
      <p:sp>
        <p:nvSpPr>
          <p:cNvPr id="3" name="Shape 1"/>
          <p:cNvSpPr/>
          <p:nvPr/>
        </p:nvSpPr>
        <p:spPr>
          <a:xfrm>
            <a:off x="457200" y="1097280"/>
            <a:ext cx="8229600" cy="45720"/>
          </a:xfrm>
          <a:prstGeom prst="rect">
            <a:avLst/>
          </a:prstGeom>
          <a:solidFill>
            <a:srgbClr val="F39C12"/>
          </a:solidFill>
          <a:ln/>
        </p:spPr>
      </p:sp>
      <p:sp>
        <p:nvSpPr>
          <p:cNvPr id="4" name="Shape 2"/>
          <p:cNvSpPr/>
          <p:nvPr/>
        </p:nvSpPr>
        <p:spPr>
          <a:xfrm>
            <a:off x="731520" y="1645920"/>
            <a:ext cx="3657600" cy="1097280"/>
          </a:xfrm>
          <a:prstGeom prst="roundRect">
            <a:avLst/>
          </a:prstGeom>
          <a:solidFill>
            <a:srgbClr val="E8F4F8"/>
          </a:solidFill>
          <a:ln w="25400">
            <a:solidFill>
              <a:srgbClr val="2E5C8A"/>
            </a:solidFill>
            <a:prstDash val="solid"/>
          </a:ln>
        </p:spPr>
      </p:sp>
      <p:sp>
        <p:nvSpPr>
          <p:cNvPr id="5" name="Text 3"/>
          <p:cNvSpPr/>
          <p:nvPr/>
        </p:nvSpPr>
        <p:spPr>
          <a:xfrm>
            <a:off x="731520" y="1737360"/>
            <a:ext cx="3657600" cy="365760"/>
          </a:xfrm>
          <a:prstGeom prst="rect">
            <a:avLst/>
          </a:prstGeom>
          <a:noFill/>
          <a:ln/>
        </p:spPr>
        <p:txBody>
          <a:bodyPr wrap="square" rtlCol="0" anchor="ctr"/>
          <a:lstStyle/>
          <a:p>
            <a:pPr algn="ctr" indent="0" marL="0">
              <a:buNone/>
            </a:pPr>
            <a:r>
              <a:rPr lang="en-US" sz="1600" b="1" dirty="0">
                <a:solidFill>
                  <a:srgbClr val="2E5C8A"/>
                </a:solidFill>
              </a:rPr>
              <a:t>Programming Language</a:t>
            </a:r>
            <a:endParaRPr lang="en-US" sz="1600" dirty="0"/>
          </a:p>
        </p:txBody>
      </p:sp>
      <p:sp>
        <p:nvSpPr>
          <p:cNvPr id="6" name="Text 4"/>
          <p:cNvSpPr/>
          <p:nvPr/>
        </p:nvSpPr>
        <p:spPr>
          <a:xfrm>
            <a:off x="731520" y="2194560"/>
            <a:ext cx="3657600" cy="365760"/>
          </a:xfrm>
          <a:prstGeom prst="rect">
            <a:avLst/>
          </a:prstGeom>
          <a:noFill/>
          <a:ln/>
        </p:spPr>
        <p:txBody>
          <a:bodyPr wrap="square" rtlCol="0" anchor="ctr"/>
          <a:lstStyle/>
          <a:p>
            <a:pPr algn="ctr" indent="0" marL="0">
              <a:buNone/>
            </a:pPr>
            <a:r>
              <a:rPr lang="en-US" sz="1400" dirty="0">
                <a:solidFill>
                  <a:srgbClr val="333333"/>
                </a:solidFill>
              </a:rPr>
              <a:t>Python 3.x</a:t>
            </a:r>
            <a:endParaRPr lang="en-US" sz="1400" dirty="0"/>
          </a:p>
        </p:txBody>
      </p:sp>
      <p:sp>
        <p:nvSpPr>
          <p:cNvPr id="7" name="Shape 5"/>
          <p:cNvSpPr/>
          <p:nvPr/>
        </p:nvSpPr>
        <p:spPr>
          <a:xfrm>
            <a:off x="731520" y="2926080"/>
            <a:ext cx="3657600" cy="1097280"/>
          </a:xfrm>
          <a:prstGeom prst="roundRect">
            <a:avLst/>
          </a:prstGeom>
          <a:solidFill>
            <a:srgbClr val="E8F4F8"/>
          </a:solidFill>
          <a:ln w="25400">
            <a:solidFill>
              <a:srgbClr val="2E5C8A"/>
            </a:solidFill>
            <a:prstDash val="solid"/>
          </a:ln>
        </p:spPr>
      </p:sp>
      <p:sp>
        <p:nvSpPr>
          <p:cNvPr id="8" name="Text 6"/>
          <p:cNvSpPr/>
          <p:nvPr/>
        </p:nvSpPr>
        <p:spPr>
          <a:xfrm>
            <a:off x="731520" y="3017520"/>
            <a:ext cx="3657600" cy="365760"/>
          </a:xfrm>
          <a:prstGeom prst="rect">
            <a:avLst/>
          </a:prstGeom>
          <a:noFill/>
          <a:ln/>
        </p:spPr>
        <p:txBody>
          <a:bodyPr wrap="square" rtlCol="0" anchor="ctr"/>
          <a:lstStyle/>
          <a:p>
            <a:pPr algn="ctr" indent="0" marL="0">
              <a:buNone/>
            </a:pPr>
            <a:r>
              <a:rPr lang="en-US" sz="1600" b="1" dirty="0">
                <a:solidFill>
                  <a:srgbClr val="2E5C8A"/>
                </a:solidFill>
              </a:rPr>
              <a:t>Computer Vision</a:t>
            </a:r>
            <a:endParaRPr lang="en-US" sz="1600" dirty="0"/>
          </a:p>
        </p:txBody>
      </p:sp>
      <p:sp>
        <p:nvSpPr>
          <p:cNvPr id="9" name="Text 7"/>
          <p:cNvSpPr/>
          <p:nvPr/>
        </p:nvSpPr>
        <p:spPr>
          <a:xfrm>
            <a:off x="731520" y="3474720"/>
            <a:ext cx="3657600" cy="365760"/>
          </a:xfrm>
          <a:prstGeom prst="rect">
            <a:avLst/>
          </a:prstGeom>
          <a:noFill/>
          <a:ln/>
        </p:spPr>
        <p:txBody>
          <a:bodyPr wrap="square" rtlCol="0" anchor="ctr"/>
          <a:lstStyle/>
          <a:p>
            <a:pPr algn="ctr" indent="0" marL="0">
              <a:buNone/>
            </a:pPr>
            <a:r>
              <a:rPr lang="en-US" sz="1400" dirty="0">
                <a:solidFill>
                  <a:srgbClr val="333333"/>
                </a:solidFill>
              </a:rPr>
              <a:t>OpenCV, PIL</a:t>
            </a:r>
            <a:endParaRPr lang="en-US" sz="1400" dirty="0"/>
          </a:p>
        </p:txBody>
      </p:sp>
      <p:sp>
        <p:nvSpPr>
          <p:cNvPr id="10" name="Shape 8"/>
          <p:cNvSpPr/>
          <p:nvPr/>
        </p:nvSpPr>
        <p:spPr>
          <a:xfrm>
            <a:off x="731520" y="4206240"/>
            <a:ext cx="3657600" cy="1097280"/>
          </a:xfrm>
          <a:prstGeom prst="roundRect">
            <a:avLst/>
          </a:prstGeom>
          <a:solidFill>
            <a:srgbClr val="E8F4F8"/>
          </a:solidFill>
          <a:ln w="25400">
            <a:solidFill>
              <a:srgbClr val="2E5C8A"/>
            </a:solidFill>
            <a:prstDash val="solid"/>
          </a:ln>
        </p:spPr>
      </p:sp>
      <p:sp>
        <p:nvSpPr>
          <p:cNvPr id="11" name="Text 9"/>
          <p:cNvSpPr/>
          <p:nvPr/>
        </p:nvSpPr>
        <p:spPr>
          <a:xfrm>
            <a:off x="731520" y="4297680"/>
            <a:ext cx="3657600" cy="365760"/>
          </a:xfrm>
          <a:prstGeom prst="rect">
            <a:avLst/>
          </a:prstGeom>
          <a:noFill/>
          <a:ln/>
        </p:spPr>
        <p:txBody>
          <a:bodyPr wrap="square" rtlCol="0" anchor="ctr"/>
          <a:lstStyle/>
          <a:p>
            <a:pPr algn="ctr" indent="0" marL="0">
              <a:buNone/>
            </a:pPr>
            <a:r>
              <a:rPr lang="en-US" sz="1600" b="1" dirty="0">
                <a:solidFill>
                  <a:srgbClr val="2E5C8A"/>
                </a:solidFill>
              </a:rPr>
              <a:t>OCR Engine</a:t>
            </a:r>
            <a:endParaRPr lang="en-US" sz="1600" dirty="0"/>
          </a:p>
        </p:txBody>
      </p:sp>
      <p:sp>
        <p:nvSpPr>
          <p:cNvPr id="12" name="Text 10"/>
          <p:cNvSpPr/>
          <p:nvPr/>
        </p:nvSpPr>
        <p:spPr>
          <a:xfrm>
            <a:off x="731520" y="4754880"/>
            <a:ext cx="3657600" cy="365760"/>
          </a:xfrm>
          <a:prstGeom prst="rect">
            <a:avLst/>
          </a:prstGeom>
          <a:noFill/>
          <a:ln/>
        </p:spPr>
        <p:txBody>
          <a:bodyPr wrap="square" rtlCol="0" anchor="ctr"/>
          <a:lstStyle/>
          <a:p>
            <a:pPr algn="ctr" indent="0" marL="0">
              <a:buNone/>
            </a:pPr>
            <a:r>
              <a:rPr lang="en-US" sz="1400" dirty="0">
                <a:solidFill>
                  <a:srgbClr val="333333"/>
                </a:solidFill>
              </a:rPr>
              <a:t>Tesseract OCR, EasyOCR</a:t>
            </a:r>
            <a:endParaRPr lang="en-US" sz="1400" dirty="0"/>
          </a:p>
        </p:txBody>
      </p:sp>
      <p:sp>
        <p:nvSpPr>
          <p:cNvPr id="13" name="Shape 11"/>
          <p:cNvSpPr/>
          <p:nvPr/>
        </p:nvSpPr>
        <p:spPr>
          <a:xfrm>
            <a:off x="4754880" y="1645920"/>
            <a:ext cx="3657600" cy="1097280"/>
          </a:xfrm>
          <a:prstGeom prst="roundRect">
            <a:avLst/>
          </a:prstGeom>
          <a:solidFill>
            <a:srgbClr val="E8F4F8"/>
          </a:solidFill>
          <a:ln w="25400">
            <a:solidFill>
              <a:srgbClr val="2E5C8A"/>
            </a:solidFill>
            <a:prstDash val="solid"/>
          </a:ln>
        </p:spPr>
      </p:sp>
      <p:sp>
        <p:nvSpPr>
          <p:cNvPr id="14" name="Text 12"/>
          <p:cNvSpPr/>
          <p:nvPr/>
        </p:nvSpPr>
        <p:spPr>
          <a:xfrm>
            <a:off x="4754880" y="1737360"/>
            <a:ext cx="3657600" cy="365760"/>
          </a:xfrm>
          <a:prstGeom prst="rect">
            <a:avLst/>
          </a:prstGeom>
          <a:noFill/>
          <a:ln/>
        </p:spPr>
        <p:txBody>
          <a:bodyPr wrap="square" rtlCol="0" anchor="ctr"/>
          <a:lstStyle/>
          <a:p>
            <a:pPr algn="ctr" indent="0" marL="0">
              <a:buNone/>
            </a:pPr>
            <a:r>
              <a:rPr lang="en-US" sz="1600" b="1" dirty="0">
                <a:solidFill>
                  <a:srgbClr val="2E5C8A"/>
                </a:solidFill>
              </a:rPr>
              <a:t>Deep Learning</a:t>
            </a:r>
            <a:endParaRPr lang="en-US" sz="1600" dirty="0"/>
          </a:p>
        </p:txBody>
      </p:sp>
      <p:sp>
        <p:nvSpPr>
          <p:cNvPr id="15" name="Text 13"/>
          <p:cNvSpPr/>
          <p:nvPr/>
        </p:nvSpPr>
        <p:spPr>
          <a:xfrm>
            <a:off x="4754880" y="2194560"/>
            <a:ext cx="3657600" cy="365760"/>
          </a:xfrm>
          <a:prstGeom prst="rect">
            <a:avLst/>
          </a:prstGeom>
          <a:noFill/>
          <a:ln/>
        </p:spPr>
        <p:txBody>
          <a:bodyPr wrap="square" rtlCol="0" anchor="ctr"/>
          <a:lstStyle/>
          <a:p>
            <a:pPr algn="ctr" indent="0" marL="0">
              <a:buNone/>
            </a:pPr>
            <a:r>
              <a:rPr lang="en-US" sz="1400" dirty="0">
                <a:solidFill>
                  <a:srgbClr val="333333"/>
                </a:solidFill>
              </a:rPr>
              <a:t>YOLO, TensorFlow, Keras</a:t>
            </a:r>
            <a:endParaRPr lang="en-US" sz="1400" dirty="0"/>
          </a:p>
        </p:txBody>
      </p:sp>
      <p:sp>
        <p:nvSpPr>
          <p:cNvPr id="16" name="Shape 14"/>
          <p:cNvSpPr/>
          <p:nvPr/>
        </p:nvSpPr>
        <p:spPr>
          <a:xfrm>
            <a:off x="4754880" y="2926080"/>
            <a:ext cx="3657600" cy="1097280"/>
          </a:xfrm>
          <a:prstGeom prst="roundRect">
            <a:avLst/>
          </a:prstGeom>
          <a:solidFill>
            <a:srgbClr val="E8F4F8"/>
          </a:solidFill>
          <a:ln w="25400">
            <a:solidFill>
              <a:srgbClr val="2E5C8A"/>
            </a:solidFill>
            <a:prstDash val="solid"/>
          </a:ln>
        </p:spPr>
      </p:sp>
      <p:sp>
        <p:nvSpPr>
          <p:cNvPr id="17" name="Text 15"/>
          <p:cNvSpPr/>
          <p:nvPr/>
        </p:nvSpPr>
        <p:spPr>
          <a:xfrm>
            <a:off x="4754880" y="3017520"/>
            <a:ext cx="3657600" cy="365760"/>
          </a:xfrm>
          <a:prstGeom prst="rect">
            <a:avLst/>
          </a:prstGeom>
          <a:noFill/>
          <a:ln/>
        </p:spPr>
        <p:txBody>
          <a:bodyPr wrap="square" rtlCol="0" anchor="ctr"/>
          <a:lstStyle/>
          <a:p>
            <a:pPr algn="ctr" indent="0" marL="0">
              <a:buNone/>
            </a:pPr>
            <a:r>
              <a:rPr lang="en-US" sz="1600" b="1" dirty="0">
                <a:solidFill>
                  <a:srgbClr val="2E5C8A"/>
                </a:solidFill>
              </a:rPr>
              <a:t>Image Processing</a:t>
            </a:r>
            <a:endParaRPr lang="en-US" sz="1600" dirty="0"/>
          </a:p>
        </p:txBody>
      </p:sp>
      <p:sp>
        <p:nvSpPr>
          <p:cNvPr id="18" name="Text 16"/>
          <p:cNvSpPr/>
          <p:nvPr/>
        </p:nvSpPr>
        <p:spPr>
          <a:xfrm>
            <a:off x="4754880" y="3474720"/>
            <a:ext cx="3657600" cy="365760"/>
          </a:xfrm>
          <a:prstGeom prst="rect">
            <a:avLst/>
          </a:prstGeom>
          <a:noFill/>
          <a:ln/>
        </p:spPr>
        <p:txBody>
          <a:bodyPr wrap="square" rtlCol="0" anchor="ctr"/>
          <a:lstStyle/>
          <a:p>
            <a:pPr algn="ctr" indent="0" marL="0">
              <a:buNone/>
            </a:pPr>
            <a:r>
              <a:rPr lang="en-US" sz="1400" dirty="0">
                <a:solidFill>
                  <a:srgbClr val="333333"/>
                </a:solidFill>
              </a:rPr>
              <a:t>NumPy, Matplotlib</a:t>
            </a:r>
            <a:endParaRPr lang="en-US" sz="1400" dirty="0"/>
          </a:p>
        </p:txBody>
      </p:sp>
      <p:sp>
        <p:nvSpPr>
          <p:cNvPr id="19" name="Shape 17"/>
          <p:cNvSpPr/>
          <p:nvPr/>
        </p:nvSpPr>
        <p:spPr>
          <a:xfrm>
            <a:off x="4754880" y="4206240"/>
            <a:ext cx="3657600" cy="1097280"/>
          </a:xfrm>
          <a:prstGeom prst="roundRect">
            <a:avLst/>
          </a:prstGeom>
          <a:solidFill>
            <a:srgbClr val="E8F4F8"/>
          </a:solidFill>
          <a:ln w="25400">
            <a:solidFill>
              <a:srgbClr val="2E5C8A"/>
            </a:solidFill>
            <a:prstDash val="solid"/>
          </a:ln>
        </p:spPr>
      </p:sp>
      <p:sp>
        <p:nvSpPr>
          <p:cNvPr id="20" name="Text 18"/>
          <p:cNvSpPr/>
          <p:nvPr/>
        </p:nvSpPr>
        <p:spPr>
          <a:xfrm>
            <a:off x="4754880" y="4297680"/>
            <a:ext cx="3657600" cy="365760"/>
          </a:xfrm>
          <a:prstGeom prst="rect">
            <a:avLst/>
          </a:prstGeom>
          <a:noFill/>
          <a:ln/>
        </p:spPr>
        <p:txBody>
          <a:bodyPr wrap="square" rtlCol="0" anchor="ctr"/>
          <a:lstStyle/>
          <a:p>
            <a:pPr algn="ctr" indent="0" marL="0">
              <a:buNone/>
            </a:pPr>
            <a:r>
              <a:rPr lang="en-US" sz="1600" b="1" dirty="0">
                <a:solidFill>
                  <a:srgbClr val="2E5C8A"/>
                </a:solidFill>
              </a:rPr>
              <a:t>Development Tools</a:t>
            </a:r>
            <a:endParaRPr lang="en-US" sz="1600" dirty="0"/>
          </a:p>
        </p:txBody>
      </p:sp>
      <p:sp>
        <p:nvSpPr>
          <p:cNvPr id="21" name="Text 19"/>
          <p:cNvSpPr/>
          <p:nvPr/>
        </p:nvSpPr>
        <p:spPr>
          <a:xfrm>
            <a:off x="4754880" y="4754880"/>
            <a:ext cx="3657600" cy="365760"/>
          </a:xfrm>
          <a:prstGeom prst="rect">
            <a:avLst/>
          </a:prstGeom>
          <a:noFill/>
          <a:ln/>
        </p:spPr>
        <p:txBody>
          <a:bodyPr wrap="square" rtlCol="0" anchor="ctr"/>
          <a:lstStyle/>
          <a:p>
            <a:pPr algn="ctr" indent="0" marL="0">
              <a:buNone/>
            </a:pPr>
            <a:r>
              <a:rPr lang="en-US" sz="1400" dirty="0">
                <a:solidFill>
                  <a:srgbClr val="333333"/>
                </a:solidFill>
              </a:rPr>
              <a:t>Jupyter Notebook, VS Code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indent="0" marL="0">
              <a:buNone/>
            </a:pPr>
            <a:r>
              <a:rPr lang="en-US" sz="3600" b="1" dirty="0">
                <a:solidFill>
                  <a:srgbClr val="1F4788"/>
                </a:solidFill>
              </a:rPr>
              <a:t>Proposed System</a:t>
            </a:r>
            <a:endParaRPr lang="en-US" sz="3600" dirty="0"/>
          </a:p>
        </p:txBody>
      </p:sp>
      <p:sp>
        <p:nvSpPr>
          <p:cNvPr id="3" name="Shape 1"/>
          <p:cNvSpPr/>
          <p:nvPr/>
        </p:nvSpPr>
        <p:spPr>
          <a:xfrm>
            <a:off x="457200" y="1097280"/>
            <a:ext cx="8229600" cy="45720"/>
          </a:xfrm>
          <a:prstGeom prst="rect">
            <a:avLst/>
          </a:prstGeom>
          <a:solidFill>
            <a:srgbClr val="F39C12"/>
          </a:solidFill>
          <a:ln/>
        </p:spPr>
      </p:sp>
      <p:sp>
        <p:nvSpPr>
          <p:cNvPr id="4" name="Text 2"/>
          <p:cNvSpPr/>
          <p:nvPr/>
        </p:nvSpPr>
        <p:spPr>
          <a:xfrm>
            <a:off x="731520" y="1463040"/>
            <a:ext cx="7772400" cy="365760"/>
          </a:xfrm>
          <a:prstGeom prst="rect">
            <a:avLst/>
          </a:prstGeom>
          <a:noFill/>
          <a:ln/>
        </p:spPr>
        <p:txBody>
          <a:bodyPr wrap="square" rtlCol="0" anchor="ctr"/>
          <a:lstStyle/>
          <a:p>
            <a:pPr indent="0" marL="0">
              <a:buNone/>
            </a:pPr>
            <a:r>
              <a:rPr lang="en-US" sz="2000" b="1" dirty="0">
                <a:solidFill>
                  <a:srgbClr val="2E5C8A"/>
                </a:solidFill>
              </a:rPr>
              <a:t>System Architecture:</a:t>
            </a:r>
            <a:endParaRPr lang="en-US" sz="2000" dirty="0"/>
          </a:p>
        </p:txBody>
      </p:sp>
      <p:sp>
        <p:nvSpPr>
          <p:cNvPr id="5" name="Text 3"/>
          <p:cNvSpPr/>
          <p:nvPr/>
        </p:nvSpPr>
        <p:spPr>
          <a:xfrm>
            <a:off x="914400" y="1920240"/>
            <a:ext cx="7498080" cy="3657600"/>
          </a:xfrm>
          <a:prstGeom prst="rect">
            <a:avLst/>
          </a:prstGeom>
          <a:noFill/>
          <a:ln/>
        </p:spPr>
        <p:txBody>
          <a:bodyPr wrap="square" rtlCol="0" anchor="t"/>
          <a:lstStyle/>
          <a:p>
            <a:pPr indent="0" marL="0">
              <a:buNone/>
            </a:pPr>
            <a:r>
              <a:rPr lang="en-US" sz="1600" b="1" dirty="0">
                <a:solidFill>
                  <a:srgbClr val="1F4788"/>
                </a:solidFill>
              </a:rPr>
              <a:t>1. Video Input Module
</a:t>
            </a:r>
            <a:pPr indent="0" marL="0">
              <a:buNone/>
            </a:pPr>
            <a:r>
              <a:rPr lang="en-US" sz="1400" dirty="0">
                <a:solidFill>
                  <a:srgbClr val="333333"/>
                </a:solidFill>
              </a:rPr>
              <a:t>   Captures real-time video from cameras or processes recorded footage
</a:t>
            </a:r>
            <a:pPr indent="0" marL="0">
              <a:buNone/>
            </a:pPr>
            <a:r>
              <a:rPr lang="en-US" sz="1600" b="1" dirty="0">
                <a:solidFill>
                  <a:srgbClr val="1F4788"/>
                </a:solidFill>
              </a:rPr>
              <a:t>2. Preprocessing Module
</a:t>
            </a:r>
            <a:pPr indent="0" marL="0">
              <a:buNone/>
            </a:pPr>
            <a:r>
              <a:rPr lang="en-US" sz="1400" dirty="0">
                <a:solidFill>
                  <a:srgbClr val="333333"/>
                </a:solidFill>
              </a:rPr>
              <a:t>   Enhances image quality through noise reduction, contrast adjustment, and grayscale conversion
</a:t>
            </a:r>
            <a:pPr indent="0" marL="0">
              <a:buNone/>
            </a:pPr>
            <a:r>
              <a:rPr lang="en-US" sz="1600" b="1" dirty="0">
                <a:solidFill>
                  <a:srgbClr val="1F4788"/>
                </a:solidFill>
              </a:rPr>
              <a:t>3. License Plate Detection Module
</a:t>
            </a:r>
            <a:pPr indent="0" marL="0">
              <a:buNone/>
            </a:pPr>
            <a:r>
              <a:rPr lang="en-US" sz="1400" dirty="0">
                <a:solidFill>
                  <a:srgbClr val="333333"/>
                </a:solidFill>
              </a:rPr>
              <a:t>   Uses YOLO/CNN to detect and localize license plates in frames
</a:t>
            </a:r>
            <a:pPr indent="0" marL="0">
              <a:buNone/>
            </a:pPr>
            <a:r>
              <a:rPr lang="en-US" sz="1600" b="1" dirty="0">
                <a:solidFill>
                  <a:srgbClr val="1F4788"/>
                </a:solidFill>
              </a:rPr>
              <a:t>4. Character Recognition Module
</a:t>
            </a:r>
            <a:pPr indent="0" marL="0">
              <a:buNone/>
            </a:pPr>
            <a:r>
              <a:rPr lang="en-US" sz="1400" dirty="0">
                <a:solidFill>
                  <a:srgbClr val="333333"/>
                </a:solidFill>
              </a:rPr>
              <a:t>   Applies OCR to extract alphanumeric characters from detected plates
</a:t>
            </a:r>
            <a:pPr indent="0" marL="0">
              <a:buNone/>
            </a:pPr>
            <a:r>
              <a:rPr lang="en-US" sz="1600" b="1" dirty="0">
                <a:solidFill>
                  <a:srgbClr val="1F4788"/>
                </a:solidFill>
              </a:rPr>
              <a:t>5. Output Module
</a:t>
            </a:r>
            <a:pPr indent="0" marL="0">
              <a:buNone/>
            </a:pPr>
            <a:r>
              <a:rPr lang="en-US" sz="1400" dirty="0">
                <a:solidFill>
                  <a:srgbClr val="333333"/>
                </a:solidFill>
              </a:rPr>
              <a:t>   Displays results and stores data in database for further analysis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indent="0" marL="0">
              <a:buNone/>
            </a:pPr>
            <a:r>
              <a:rPr lang="en-US" sz="3600" b="1" dirty="0">
                <a:solidFill>
                  <a:srgbClr val="1F4788"/>
                </a:solidFill>
              </a:rPr>
              <a:t>Workflow Diagram</a:t>
            </a:r>
            <a:endParaRPr lang="en-US" sz="3600" dirty="0"/>
          </a:p>
        </p:txBody>
      </p:sp>
      <p:sp>
        <p:nvSpPr>
          <p:cNvPr id="3" name="Shape 1"/>
          <p:cNvSpPr/>
          <p:nvPr/>
        </p:nvSpPr>
        <p:spPr>
          <a:xfrm>
            <a:off x="457200" y="1097280"/>
            <a:ext cx="8229600" cy="45720"/>
          </a:xfrm>
          <a:prstGeom prst="rect">
            <a:avLst/>
          </a:prstGeom>
          <a:solidFill>
            <a:srgbClr val="F39C12"/>
          </a:solidFill>
          <a:ln/>
        </p:spPr>
      </p:sp>
      <p:sp>
        <p:nvSpPr>
          <p:cNvPr id="4" name="Shape 2"/>
          <p:cNvSpPr/>
          <p:nvPr/>
        </p:nvSpPr>
        <p:spPr>
          <a:xfrm>
            <a:off x="2971800" y="1463040"/>
            <a:ext cx="3200400" cy="731520"/>
          </a:xfrm>
          <a:prstGeom prst="roundRect">
            <a:avLst/>
          </a:prstGeom>
          <a:solidFill>
            <a:srgbClr val="1F4788"/>
          </a:solidFill>
          <a:ln w="12700">
            <a:solidFill>
              <a:srgbClr val="000000"/>
            </a:solidFill>
            <a:prstDash val="solid"/>
          </a:ln>
        </p:spPr>
      </p:sp>
      <p:sp>
        <p:nvSpPr>
          <p:cNvPr id="5" name="Text 3"/>
          <p:cNvSpPr/>
          <p:nvPr/>
        </p:nvSpPr>
        <p:spPr>
          <a:xfrm>
            <a:off x="2971800" y="1645920"/>
            <a:ext cx="3200400" cy="365760"/>
          </a:xfrm>
          <a:prstGeom prst="rect">
            <a:avLst/>
          </a:prstGeom>
          <a:noFill/>
          <a:ln/>
        </p:spPr>
        <p:txBody>
          <a:bodyPr wrap="square" rtlCol="0" anchor="ctr"/>
          <a:lstStyle/>
          <a:p>
            <a:pPr algn="ctr" indent="0" marL="0">
              <a:buNone/>
            </a:pPr>
            <a:r>
              <a:rPr lang="en-US" sz="1600" b="1" dirty="0">
                <a:solidFill>
                  <a:srgbClr val="FFFFFF"/>
                </a:solidFill>
              </a:rPr>
              <a:t>Video Input</a:t>
            </a:r>
            <a:endParaRPr lang="en-US" sz="1600" dirty="0"/>
          </a:p>
        </p:txBody>
      </p:sp>
      <p:sp>
        <p:nvSpPr>
          <p:cNvPr id="6" name="Shape 4"/>
          <p:cNvSpPr/>
          <p:nvPr/>
        </p:nvSpPr>
        <p:spPr>
          <a:xfrm>
            <a:off x="4343400" y="2286000"/>
            <a:ext cx="457200" cy="365760"/>
          </a:xfrm>
          <a:prstGeom prst="downArrow">
            <a:avLst/>
          </a:prstGeom>
          <a:solidFill>
            <a:srgbClr val="F39C12"/>
          </a:solidFill>
          <a:ln/>
        </p:spPr>
      </p:sp>
      <p:sp>
        <p:nvSpPr>
          <p:cNvPr id="7" name="Shape 5"/>
          <p:cNvSpPr/>
          <p:nvPr/>
        </p:nvSpPr>
        <p:spPr>
          <a:xfrm>
            <a:off x="2971800" y="2743200"/>
            <a:ext cx="3200400" cy="731520"/>
          </a:xfrm>
          <a:prstGeom prst="roundRect">
            <a:avLst/>
          </a:prstGeom>
          <a:solidFill>
            <a:srgbClr val="2E5C8A"/>
          </a:solidFill>
          <a:ln w="12700">
            <a:solidFill>
              <a:srgbClr val="000000"/>
            </a:solidFill>
            <a:prstDash val="solid"/>
          </a:ln>
        </p:spPr>
      </p:sp>
      <p:sp>
        <p:nvSpPr>
          <p:cNvPr id="8" name="Text 6"/>
          <p:cNvSpPr/>
          <p:nvPr/>
        </p:nvSpPr>
        <p:spPr>
          <a:xfrm>
            <a:off x="2971800" y="2926080"/>
            <a:ext cx="3200400" cy="365760"/>
          </a:xfrm>
          <a:prstGeom prst="rect">
            <a:avLst/>
          </a:prstGeom>
          <a:noFill/>
          <a:ln/>
        </p:spPr>
        <p:txBody>
          <a:bodyPr wrap="square" rtlCol="0" anchor="ctr"/>
          <a:lstStyle/>
          <a:p>
            <a:pPr algn="ctr" indent="0" marL="0">
              <a:buNone/>
            </a:pPr>
            <a:r>
              <a:rPr lang="en-US" sz="1600" b="1" dirty="0">
                <a:solidFill>
                  <a:srgbClr val="FFFFFF"/>
                </a:solidFill>
              </a:rPr>
              <a:t>Image Preprocessing</a:t>
            </a:r>
            <a:endParaRPr lang="en-US" sz="1600" dirty="0"/>
          </a:p>
        </p:txBody>
      </p:sp>
      <p:sp>
        <p:nvSpPr>
          <p:cNvPr id="9" name="Shape 7"/>
          <p:cNvSpPr/>
          <p:nvPr/>
        </p:nvSpPr>
        <p:spPr>
          <a:xfrm>
            <a:off x="4343400" y="3566160"/>
            <a:ext cx="457200" cy="365760"/>
          </a:xfrm>
          <a:prstGeom prst="downArrow">
            <a:avLst/>
          </a:prstGeom>
          <a:solidFill>
            <a:srgbClr val="F39C12"/>
          </a:solidFill>
          <a:ln/>
        </p:spPr>
      </p:sp>
      <p:sp>
        <p:nvSpPr>
          <p:cNvPr id="10" name="Shape 8"/>
          <p:cNvSpPr/>
          <p:nvPr/>
        </p:nvSpPr>
        <p:spPr>
          <a:xfrm>
            <a:off x="2971800" y="4023360"/>
            <a:ext cx="3200400" cy="731520"/>
          </a:xfrm>
          <a:prstGeom prst="roundRect">
            <a:avLst/>
          </a:prstGeom>
          <a:solidFill>
            <a:srgbClr val="1F4788"/>
          </a:solidFill>
          <a:ln w="12700">
            <a:solidFill>
              <a:srgbClr val="000000"/>
            </a:solidFill>
            <a:prstDash val="solid"/>
          </a:ln>
        </p:spPr>
      </p:sp>
      <p:sp>
        <p:nvSpPr>
          <p:cNvPr id="11" name="Text 9"/>
          <p:cNvSpPr/>
          <p:nvPr/>
        </p:nvSpPr>
        <p:spPr>
          <a:xfrm>
            <a:off x="2971800" y="4206240"/>
            <a:ext cx="3200400" cy="365760"/>
          </a:xfrm>
          <a:prstGeom prst="rect">
            <a:avLst/>
          </a:prstGeom>
          <a:noFill/>
          <a:ln/>
        </p:spPr>
        <p:txBody>
          <a:bodyPr wrap="square" rtlCol="0" anchor="ctr"/>
          <a:lstStyle/>
          <a:p>
            <a:pPr algn="ctr" indent="0" marL="0">
              <a:buNone/>
            </a:pPr>
            <a:r>
              <a:rPr lang="en-US" sz="1600" b="1" dirty="0">
                <a:solidFill>
                  <a:srgbClr val="FFFFFF"/>
                </a:solidFill>
              </a:rPr>
              <a:t>Plate Detection (YOLO)</a:t>
            </a:r>
            <a:endParaRPr lang="en-US" sz="1600" dirty="0"/>
          </a:p>
        </p:txBody>
      </p:sp>
      <p:sp>
        <p:nvSpPr>
          <p:cNvPr id="12" name="Shape 10"/>
          <p:cNvSpPr/>
          <p:nvPr/>
        </p:nvSpPr>
        <p:spPr>
          <a:xfrm>
            <a:off x="4343400" y="4846320"/>
            <a:ext cx="457200" cy="365760"/>
          </a:xfrm>
          <a:prstGeom prst="downArrow">
            <a:avLst/>
          </a:prstGeom>
          <a:solidFill>
            <a:srgbClr val="F39C12"/>
          </a:solidFill>
          <a:ln/>
        </p:spPr>
      </p:sp>
      <p:sp>
        <p:nvSpPr>
          <p:cNvPr id="13" name="Shape 11"/>
          <p:cNvSpPr/>
          <p:nvPr/>
        </p:nvSpPr>
        <p:spPr>
          <a:xfrm>
            <a:off x="1371600" y="5303520"/>
            <a:ext cx="2743200" cy="731520"/>
          </a:xfrm>
          <a:prstGeom prst="roundRect">
            <a:avLst/>
          </a:prstGeom>
          <a:solidFill>
            <a:srgbClr val="2E5C8A"/>
          </a:solidFill>
          <a:ln w="12700">
            <a:solidFill>
              <a:srgbClr val="000000"/>
            </a:solidFill>
            <a:prstDash val="solid"/>
          </a:ln>
        </p:spPr>
      </p:sp>
      <p:sp>
        <p:nvSpPr>
          <p:cNvPr id="14" name="Text 12"/>
          <p:cNvSpPr/>
          <p:nvPr/>
        </p:nvSpPr>
        <p:spPr>
          <a:xfrm>
            <a:off x="1371600" y="5486400"/>
            <a:ext cx="2743200" cy="365760"/>
          </a:xfrm>
          <a:prstGeom prst="rect">
            <a:avLst/>
          </a:prstGeom>
          <a:noFill/>
          <a:ln/>
        </p:spPr>
        <p:txBody>
          <a:bodyPr wrap="square" rtlCol="0" anchor="ctr"/>
          <a:lstStyle/>
          <a:p>
            <a:pPr algn="ctr" indent="0" marL="0">
              <a:buNone/>
            </a:pPr>
            <a:r>
              <a:rPr lang="en-US" sz="1400" b="1" dirty="0">
                <a:solidFill>
                  <a:srgbClr val="FFFFFF"/>
                </a:solidFill>
              </a:rPr>
              <a:t>OCR Processing</a:t>
            </a:r>
            <a:endParaRPr lang="en-US" sz="1400" dirty="0"/>
          </a:p>
        </p:txBody>
      </p:sp>
      <p:sp>
        <p:nvSpPr>
          <p:cNvPr id="15" name="Shape 13"/>
          <p:cNvSpPr/>
          <p:nvPr/>
        </p:nvSpPr>
        <p:spPr>
          <a:xfrm>
            <a:off x="5029200" y="5303520"/>
            <a:ext cx="2743200" cy="731520"/>
          </a:xfrm>
          <a:prstGeom prst="roundRect">
            <a:avLst/>
          </a:prstGeom>
          <a:solidFill>
            <a:srgbClr val="2E5C8A"/>
          </a:solidFill>
          <a:ln w="12700">
            <a:solidFill>
              <a:srgbClr val="000000"/>
            </a:solidFill>
            <a:prstDash val="solid"/>
          </a:ln>
        </p:spPr>
      </p:sp>
      <p:sp>
        <p:nvSpPr>
          <p:cNvPr id="16" name="Text 14"/>
          <p:cNvSpPr/>
          <p:nvPr/>
        </p:nvSpPr>
        <p:spPr>
          <a:xfrm>
            <a:off x="5029200" y="5486400"/>
            <a:ext cx="2743200" cy="365760"/>
          </a:xfrm>
          <a:prstGeom prst="rect">
            <a:avLst/>
          </a:prstGeom>
          <a:noFill/>
          <a:ln/>
        </p:spPr>
        <p:txBody>
          <a:bodyPr wrap="square" rtlCol="0" anchor="ctr"/>
          <a:lstStyle/>
          <a:p>
            <a:pPr algn="ctr" indent="0" marL="0">
              <a:buNone/>
            </a:pPr>
            <a:r>
              <a:rPr lang="en-US" sz="1400" b="1" dirty="0">
                <a:solidFill>
                  <a:srgbClr val="FFFFFF"/>
                </a:solidFill>
              </a:rPr>
              <a:t>Data Storage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indent="0" marL="0">
              <a:buNone/>
            </a:pPr>
            <a:r>
              <a:rPr lang="en-US" sz="3600" b="1" dirty="0">
                <a:solidFill>
                  <a:srgbClr val="1F4788"/>
                </a:solidFill>
              </a:rPr>
              <a:t>Results and Output</a:t>
            </a:r>
            <a:endParaRPr lang="en-US" sz="3600" dirty="0"/>
          </a:p>
        </p:txBody>
      </p:sp>
      <p:sp>
        <p:nvSpPr>
          <p:cNvPr id="3" name="Shape 1"/>
          <p:cNvSpPr/>
          <p:nvPr/>
        </p:nvSpPr>
        <p:spPr>
          <a:xfrm>
            <a:off x="457200" y="1097280"/>
            <a:ext cx="8229600" cy="45720"/>
          </a:xfrm>
          <a:prstGeom prst="rect">
            <a:avLst/>
          </a:prstGeom>
          <a:solidFill>
            <a:srgbClr val="F39C12"/>
          </a:solidFill>
          <a:ln/>
        </p:spPr>
      </p:sp>
      <p:sp>
        <p:nvSpPr>
          <p:cNvPr id="4" name="Text 2"/>
          <p:cNvSpPr/>
          <p:nvPr/>
        </p:nvSpPr>
        <p:spPr>
          <a:xfrm>
            <a:off x="731520" y="1463040"/>
            <a:ext cx="7772400" cy="365760"/>
          </a:xfrm>
          <a:prstGeom prst="rect">
            <a:avLst/>
          </a:prstGeom>
          <a:noFill/>
          <a:ln/>
        </p:spPr>
        <p:txBody>
          <a:bodyPr wrap="square" rtlCol="0" anchor="ctr"/>
          <a:lstStyle/>
          <a:p>
            <a:pPr indent="0" marL="0">
              <a:buNone/>
            </a:pPr>
            <a:r>
              <a:rPr lang="en-US" sz="2000" b="1" dirty="0">
                <a:solidFill>
                  <a:srgbClr val="2E5C8A"/>
                </a:solidFill>
              </a:rPr>
              <a:t>Key Performance Metrics:</a:t>
            </a:r>
            <a:endParaRPr lang="en-US" sz="2000" dirty="0"/>
          </a:p>
        </p:txBody>
      </p:sp>
      <p:sp>
        <p:nvSpPr>
          <p:cNvPr id="5" name="Shape 3"/>
          <p:cNvSpPr/>
          <p:nvPr/>
        </p:nvSpPr>
        <p:spPr>
          <a:xfrm>
            <a:off x="914400" y="2011680"/>
            <a:ext cx="3200400" cy="914400"/>
          </a:xfrm>
          <a:prstGeom prst="roundRect">
            <a:avLst/>
          </a:prstGeom>
          <a:solidFill>
            <a:srgbClr val="E8F8E8"/>
          </a:solidFill>
          <a:ln w="25400">
            <a:solidFill>
              <a:srgbClr val="10B981"/>
            </a:solidFill>
            <a:prstDash val="solid"/>
          </a:ln>
        </p:spPr>
      </p:sp>
      <p:sp>
        <p:nvSpPr>
          <p:cNvPr id="6" name="Text 4"/>
          <p:cNvSpPr/>
          <p:nvPr/>
        </p:nvSpPr>
        <p:spPr>
          <a:xfrm>
            <a:off x="914400" y="2103120"/>
            <a:ext cx="3200400" cy="274320"/>
          </a:xfrm>
          <a:prstGeom prst="rect">
            <a:avLst/>
          </a:prstGeom>
          <a:noFill/>
          <a:ln/>
        </p:spPr>
        <p:txBody>
          <a:bodyPr wrap="square" rtlCol="0" anchor="ctr"/>
          <a:lstStyle/>
          <a:p>
            <a:pPr algn="ctr" indent="0" marL="0">
              <a:buNone/>
            </a:pPr>
            <a:r>
              <a:rPr lang="en-US" sz="1400" b="1" dirty="0">
                <a:solidFill>
                  <a:srgbClr val="333333"/>
                </a:solidFill>
              </a:rPr>
              <a:t>Detection Accuracy</a:t>
            </a:r>
            <a:endParaRPr lang="en-US" sz="1400" dirty="0"/>
          </a:p>
        </p:txBody>
      </p:sp>
      <p:sp>
        <p:nvSpPr>
          <p:cNvPr id="7" name="Text 5"/>
          <p:cNvSpPr/>
          <p:nvPr/>
        </p:nvSpPr>
        <p:spPr>
          <a:xfrm>
            <a:off x="914400" y="2468880"/>
            <a:ext cx="3200400" cy="365760"/>
          </a:xfrm>
          <a:prstGeom prst="rect">
            <a:avLst/>
          </a:prstGeom>
          <a:noFill/>
          <a:ln/>
        </p:spPr>
        <p:txBody>
          <a:bodyPr wrap="square" rtlCol="0" anchor="ctr"/>
          <a:lstStyle/>
          <a:p>
            <a:pPr algn="ctr" indent="0" marL="0">
              <a:buNone/>
            </a:pPr>
            <a:r>
              <a:rPr lang="en-US" sz="2400" b="1" dirty="0">
                <a:solidFill>
                  <a:srgbClr val="10B981"/>
                </a:solidFill>
              </a:rPr>
              <a:t>95-98%</a:t>
            </a:r>
            <a:endParaRPr lang="en-US" sz="2400" dirty="0"/>
          </a:p>
        </p:txBody>
      </p:sp>
      <p:sp>
        <p:nvSpPr>
          <p:cNvPr id="8" name="Shape 6"/>
          <p:cNvSpPr/>
          <p:nvPr/>
        </p:nvSpPr>
        <p:spPr>
          <a:xfrm>
            <a:off x="5029200" y="2011680"/>
            <a:ext cx="3200400" cy="914400"/>
          </a:xfrm>
          <a:prstGeom prst="roundRect">
            <a:avLst/>
          </a:prstGeom>
          <a:solidFill>
            <a:srgbClr val="E8F8E8"/>
          </a:solidFill>
          <a:ln w="25400">
            <a:solidFill>
              <a:srgbClr val="10B981"/>
            </a:solidFill>
            <a:prstDash val="solid"/>
          </a:ln>
        </p:spPr>
      </p:sp>
      <p:sp>
        <p:nvSpPr>
          <p:cNvPr id="9" name="Text 7"/>
          <p:cNvSpPr/>
          <p:nvPr/>
        </p:nvSpPr>
        <p:spPr>
          <a:xfrm>
            <a:off x="5029200" y="2103120"/>
            <a:ext cx="3200400" cy="274320"/>
          </a:xfrm>
          <a:prstGeom prst="rect">
            <a:avLst/>
          </a:prstGeom>
          <a:noFill/>
          <a:ln/>
        </p:spPr>
        <p:txBody>
          <a:bodyPr wrap="square" rtlCol="0" anchor="ctr"/>
          <a:lstStyle/>
          <a:p>
            <a:pPr algn="ctr" indent="0" marL="0">
              <a:buNone/>
            </a:pPr>
            <a:r>
              <a:rPr lang="en-US" sz="1400" b="1" dirty="0">
                <a:solidFill>
                  <a:srgbClr val="333333"/>
                </a:solidFill>
              </a:rPr>
              <a:t>Recognition Accuracy</a:t>
            </a:r>
            <a:endParaRPr lang="en-US" sz="1400" dirty="0"/>
          </a:p>
        </p:txBody>
      </p:sp>
      <p:sp>
        <p:nvSpPr>
          <p:cNvPr id="10" name="Text 8"/>
          <p:cNvSpPr/>
          <p:nvPr/>
        </p:nvSpPr>
        <p:spPr>
          <a:xfrm>
            <a:off x="5029200" y="2468880"/>
            <a:ext cx="3200400" cy="365760"/>
          </a:xfrm>
          <a:prstGeom prst="rect">
            <a:avLst/>
          </a:prstGeom>
          <a:noFill/>
          <a:ln/>
        </p:spPr>
        <p:txBody>
          <a:bodyPr wrap="square" rtlCol="0" anchor="ctr"/>
          <a:lstStyle/>
          <a:p>
            <a:pPr algn="ctr" indent="0" marL="0">
              <a:buNone/>
            </a:pPr>
            <a:r>
              <a:rPr lang="en-US" sz="2400" b="1" dirty="0">
                <a:solidFill>
                  <a:srgbClr val="10B981"/>
                </a:solidFill>
              </a:rPr>
              <a:t>92-96%</a:t>
            </a:r>
            <a:endParaRPr lang="en-US" sz="2400" dirty="0"/>
          </a:p>
        </p:txBody>
      </p:sp>
      <p:sp>
        <p:nvSpPr>
          <p:cNvPr id="11" name="Shape 9"/>
          <p:cNvSpPr/>
          <p:nvPr/>
        </p:nvSpPr>
        <p:spPr>
          <a:xfrm>
            <a:off x="914400" y="3200400"/>
            <a:ext cx="3200400" cy="914400"/>
          </a:xfrm>
          <a:prstGeom prst="roundRect">
            <a:avLst/>
          </a:prstGeom>
          <a:solidFill>
            <a:srgbClr val="FFF4E8"/>
          </a:solidFill>
          <a:ln w="25400">
            <a:solidFill>
              <a:srgbClr val="F39C12"/>
            </a:solidFill>
            <a:prstDash val="solid"/>
          </a:ln>
        </p:spPr>
      </p:sp>
      <p:sp>
        <p:nvSpPr>
          <p:cNvPr id="12" name="Text 10"/>
          <p:cNvSpPr/>
          <p:nvPr/>
        </p:nvSpPr>
        <p:spPr>
          <a:xfrm>
            <a:off x="914400" y="3291840"/>
            <a:ext cx="3200400" cy="274320"/>
          </a:xfrm>
          <a:prstGeom prst="rect">
            <a:avLst/>
          </a:prstGeom>
          <a:noFill/>
          <a:ln/>
        </p:spPr>
        <p:txBody>
          <a:bodyPr wrap="square" rtlCol="0" anchor="ctr"/>
          <a:lstStyle/>
          <a:p>
            <a:pPr algn="ctr" indent="0" marL="0">
              <a:buNone/>
            </a:pPr>
            <a:r>
              <a:rPr lang="en-US" sz="1400" b="1" dirty="0">
                <a:solidFill>
                  <a:srgbClr val="333333"/>
                </a:solidFill>
              </a:rPr>
              <a:t>Processing Speed</a:t>
            </a:r>
            <a:endParaRPr lang="en-US" sz="1400" dirty="0"/>
          </a:p>
        </p:txBody>
      </p:sp>
      <p:sp>
        <p:nvSpPr>
          <p:cNvPr id="13" name="Text 11"/>
          <p:cNvSpPr/>
          <p:nvPr/>
        </p:nvSpPr>
        <p:spPr>
          <a:xfrm>
            <a:off x="914400" y="3657600"/>
            <a:ext cx="3200400" cy="365760"/>
          </a:xfrm>
          <a:prstGeom prst="rect">
            <a:avLst/>
          </a:prstGeom>
          <a:noFill/>
          <a:ln/>
        </p:spPr>
        <p:txBody>
          <a:bodyPr wrap="square" rtlCol="0" anchor="ctr"/>
          <a:lstStyle/>
          <a:p>
            <a:pPr algn="ctr" indent="0" marL="0">
              <a:buNone/>
            </a:pPr>
            <a:r>
              <a:rPr lang="en-US" sz="2400" b="1" dirty="0">
                <a:solidFill>
                  <a:srgbClr val="F39C12"/>
                </a:solidFill>
              </a:rPr>
              <a:t>25-30 FPS</a:t>
            </a:r>
            <a:endParaRPr lang="en-US" sz="2400" dirty="0"/>
          </a:p>
        </p:txBody>
      </p:sp>
      <p:sp>
        <p:nvSpPr>
          <p:cNvPr id="14" name="Shape 12"/>
          <p:cNvSpPr/>
          <p:nvPr/>
        </p:nvSpPr>
        <p:spPr>
          <a:xfrm>
            <a:off x="5029200" y="3200400"/>
            <a:ext cx="3200400" cy="914400"/>
          </a:xfrm>
          <a:prstGeom prst="roundRect">
            <a:avLst/>
          </a:prstGeom>
          <a:solidFill>
            <a:srgbClr val="FFF4E8"/>
          </a:solidFill>
          <a:ln w="25400">
            <a:solidFill>
              <a:srgbClr val="F39C12"/>
            </a:solidFill>
            <a:prstDash val="solid"/>
          </a:ln>
        </p:spPr>
      </p:sp>
      <p:sp>
        <p:nvSpPr>
          <p:cNvPr id="15" name="Text 13"/>
          <p:cNvSpPr/>
          <p:nvPr/>
        </p:nvSpPr>
        <p:spPr>
          <a:xfrm>
            <a:off x="5029200" y="3291840"/>
            <a:ext cx="3200400" cy="274320"/>
          </a:xfrm>
          <a:prstGeom prst="rect">
            <a:avLst/>
          </a:prstGeom>
          <a:noFill/>
          <a:ln/>
        </p:spPr>
        <p:txBody>
          <a:bodyPr wrap="square" rtlCol="0" anchor="ctr"/>
          <a:lstStyle/>
          <a:p>
            <a:pPr algn="ctr" indent="0" marL="0">
              <a:buNone/>
            </a:pPr>
            <a:r>
              <a:rPr lang="en-US" sz="1400" b="1" dirty="0">
                <a:solidFill>
                  <a:srgbClr val="333333"/>
                </a:solidFill>
              </a:rPr>
              <a:t>Response Time</a:t>
            </a:r>
            <a:endParaRPr lang="en-US" sz="1400" dirty="0"/>
          </a:p>
        </p:txBody>
      </p:sp>
      <p:sp>
        <p:nvSpPr>
          <p:cNvPr id="16" name="Text 14"/>
          <p:cNvSpPr/>
          <p:nvPr/>
        </p:nvSpPr>
        <p:spPr>
          <a:xfrm>
            <a:off x="5029200" y="3657600"/>
            <a:ext cx="3200400" cy="365760"/>
          </a:xfrm>
          <a:prstGeom prst="rect">
            <a:avLst/>
          </a:prstGeom>
          <a:noFill/>
          <a:ln/>
        </p:spPr>
        <p:txBody>
          <a:bodyPr wrap="square" rtlCol="0" anchor="ctr"/>
          <a:lstStyle/>
          <a:p>
            <a:pPr algn="ctr" indent="0" marL="0">
              <a:buNone/>
            </a:pPr>
            <a:r>
              <a:rPr lang="en-US" sz="2400" b="1" dirty="0">
                <a:solidFill>
                  <a:srgbClr val="F39C12"/>
                </a:solidFill>
              </a:rPr>
              <a:t>&lt; 100ms</a:t>
            </a:r>
            <a:endParaRPr lang="en-US" sz="2400" dirty="0"/>
          </a:p>
        </p:txBody>
      </p:sp>
      <p:sp>
        <p:nvSpPr>
          <p:cNvPr id="17" name="Text 15"/>
          <p:cNvSpPr/>
          <p:nvPr/>
        </p:nvSpPr>
        <p:spPr>
          <a:xfrm>
            <a:off x="731520" y="4389120"/>
            <a:ext cx="7772400" cy="274320"/>
          </a:xfrm>
          <a:prstGeom prst="rect">
            <a:avLst/>
          </a:prstGeom>
          <a:noFill/>
          <a:ln/>
        </p:spPr>
        <p:txBody>
          <a:bodyPr wrap="square" rtlCol="0" anchor="ctr"/>
          <a:lstStyle/>
          <a:p>
            <a:pPr indent="0" marL="0">
              <a:buNone/>
            </a:pPr>
            <a:r>
              <a:rPr lang="en-US" sz="1800" b="1" dirty="0">
                <a:solidFill>
                  <a:srgbClr val="2E5C8A"/>
                </a:solidFill>
              </a:rPr>
              <a:t>Output Features:</a:t>
            </a:r>
            <a:endParaRPr lang="en-US" sz="1800" dirty="0"/>
          </a:p>
        </p:txBody>
      </p:sp>
      <p:sp>
        <p:nvSpPr>
          <p:cNvPr id="18" name="Text 16"/>
          <p:cNvSpPr/>
          <p:nvPr/>
        </p:nvSpPr>
        <p:spPr>
          <a:xfrm>
            <a:off x="1097280" y="4754880"/>
            <a:ext cx="7315200" cy="914400"/>
          </a:xfrm>
          <a:prstGeom prst="rect">
            <a:avLst/>
          </a:prstGeom>
          <a:noFill/>
          <a:ln/>
        </p:spPr>
        <p:txBody>
          <a:bodyPr wrap="square" rtlCol="0" anchor="t"/>
          <a:lstStyle/>
          <a:p>
            <a:pPr indent="0" marL="0">
              <a:buNone/>
            </a:pPr>
            <a:r>
              <a:rPr lang="en-US" sz="1600" dirty="0">
                <a:solidFill>
                  <a:srgbClr val="10B981"/>
                </a:solidFill>
              </a:rPr>
              <a:t>✓ </a:t>
            </a:r>
            <a:pPr indent="0" marL="0">
              <a:buNone/>
            </a:pPr>
            <a:r>
              <a:rPr lang="en-US" sz="1400" dirty="0">
                <a:solidFill>
                  <a:srgbClr val="333333"/>
                </a:solidFill>
              </a:rPr>
              <a:t>Real-time plate detection with bounding boxes
</a:t>
            </a:r>
            <a:pPr indent="0" marL="0">
              <a:buNone/>
            </a:pPr>
            <a:r>
              <a:rPr lang="en-US" sz="1600" dirty="0">
                <a:solidFill>
                  <a:srgbClr val="10B981"/>
                </a:solidFill>
              </a:rPr>
              <a:t>✓ </a:t>
            </a:r>
            <a:pPr indent="0" marL="0">
              <a:buNone/>
            </a:pPr>
            <a:r>
              <a:rPr lang="en-US" sz="1400" dirty="0">
                <a:solidFill>
                  <a:srgbClr val="333333"/>
                </a:solidFill>
              </a:rPr>
              <a:t>Extracted text with confidence scores
</a:t>
            </a:r>
            <a:pPr indent="0" marL="0">
              <a:buNone/>
            </a:pPr>
            <a:r>
              <a:rPr lang="en-US" sz="1600" dirty="0">
                <a:solidFill>
                  <a:srgbClr val="10B981"/>
                </a:solidFill>
              </a:rPr>
              <a:t>✓ </a:t>
            </a:r>
            <a:pPr indent="0" marL="0">
              <a:buNone/>
            </a:pPr>
            <a:r>
              <a:rPr lang="en-US" sz="1400" dirty="0">
                <a:solidFill>
                  <a:srgbClr val="333333"/>
                </a:solidFill>
              </a:rPr>
              <a:t>Timestamp and location data logging
</a:t>
            </a:r>
            <a:pPr indent="0" marL="0">
              <a:buNone/>
            </a:pPr>
            <a:r>
              <a:rPr lang="en-US" sz="1600" dirty="0">
                <a:solidFill>
                  <a:srgbClr val="10B981"/>
                </a:solidFill>
              </a:rPr>
              <a:t>✓ </a:t>
            </a:r>
            <a:pPr indent="0" marL="0">
              <a:buNone/>
            </a:pPr>
            <a:r>
              <a:rPr lang="en-US" sz="1400" dirty="0">
                <a:solidFill>
                  <a:srgbClr val="333333"/>
                </a:solidFill>
              </a:rPr>
              <a:t>Database integration for vehicle tracking</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indent="0" marL="0">
              <a:buNone/>
            </a:pPr>
            <a:r>
              <a:rPr lang="en-US" sz="3600" b="1" dirty="0">
                <a:solidFill>
                  <a:srgbClr val="1F4788"/>
                </a:solidFill>
              </a:rPr>
              <a:t>Applications &amp; Future Scope</a:t>
            </a:r>
            <a:endParaRPr lang="en-US" sz="3600" dirty="0"/>
          </a:p>
        </p:txBody>
      </p:sp>
      <p:sp>
        <p:nvSpPr>
          <p:cNvPr id="3" name="Shape 1"/>
          <p:cNvSpPr/>
          <p:nvPr/>
        </p:nvSpPr>
        <p:spPr>
          <a:xfrm>
            <a:off x="457200" y="1097280"/>
            <a:ext cx="8229600" cy="45720"/>
          </a:xfrm>
          <a:prstGeom prst="rect">
            <a:avLst/>
          </a:prstGeom>
          <a:solidFill>
            <a:srgbClr val="F39C12"/>
          </a:solidFill>
          <a:ln/>
        </p:spPr>
      </p:sp>
      <p:sp>
        <p:nvSpPr>
          <p:cNvPr id="4" name="Text 2"/>
          <p:cNvSpPr/>
          <p:nvPr/>
        </p:nvSpPr>
        <p:spPr>
          <a:xfrm>
            <a:off x="731520" y="1463040"/>
            <a:ext cx="3657600" cy="365760"/>
          </a:xfrm>
          <a:prstGeom prst="rect">
            <a:avLst/>
          </a:prstGeom>
          <a:noFill/>
          <a:ln/>
        </p:spPr>
        <p:txBody>
          <a:bodyPr wrap="square" rtlCol="0" anchor="ctr"/>
          <a:lstStyle/>
          <a:p>
            <a:pPr indent="0" marL="0">
              <a:buNone/>
            </a:pPr>
            <a:r>
              <a:rPr lang="en-US" sz="2000" b="1" dirty="0">
                <a:solidFill>
                  <a:srgbClr val="2E5C8A"/>
                </a:solidFill>
              </a:rPr>
              <a:t>Current Applications:</a:t>
            </a:r>
            <a:endParaRPr lang="en-US" sz="2000" dirty="0"/>
          </a:p>
        </p:txBody>
      </p:sp>
      <p:sp>
        <p:nvSpPr>
          <p:cNvPr id="5" name="Text 3"/>
          <p:cNvSpPr/>
          <p:nvPr/>
        </p:nvSpPr>
        <p:spPr>
          <a:xfrm>
            <a:off x="914400" y="1920240"/>
            <a:ext cx="3657600" cy="2286000"/>
          </a:xfrm>
          <a:prstGeom prst="rect">
            <a:avLst/>
          </a:prstGeom>
          <a:noFill/>
          <a:ln/>
        </p:spPr>
        <p:txBody>
          <a:bodyPr wrap="square" rtlCol="0" anchor="t"/>
          <a:lstStyle/>
          <a:p>
            <a:pPr indent="0" marL="0">
              <a:buNone/>
            </a:pPr>
            <a:r>
              <a:rPr lang="en-US" sz="1400" dirty="0">
                <a:solidFill>
                  <a:srgbClr val="333333"/>
                </a:solidFill>
              </a:rPr>
              <a:t>• Traffic Management
</a:t>
            </a:r>
            <a:pPr indent="0" marL="0">
              <a:buNone/>
            </a:pPr>
            <a:r>
              <a:rPr lang="en-US" sz="1400" dirty="0">
                <a:solidFill>
                  <a:srgbClr val="333333"/>
                </a:solidFill>
              </a:rPr>
              <a:t>• Parking Systems
</a:t>
            </a:r>
            <a:pPr indent="0" marL="0">
              <a:buNone/>
            </a:pPr>
            <a:r>
              <a:rPr lang="en-US" sz="1400" dirty="0">
                <a:solidFill>
                  <a:srgbClr val="333333"/>
                </a:solidFill>
              </a:rPr>
              <a:t>• Toll Collection
</a:t>
            </a:r>
            <a:pPr indent="0" marL="0">
              <a:buNone/>
            </a:pPr>
            <a:r>
              <a:rPr lang="en-US" sz="1400" dirty="0">
                <a:solidFill>
                  <a:srgbClr val="333333"/>
                </a:solidFill>
              </a:rPr>
              <a:t>• Security &amp; Surveillance
</a:t>
            </a:r>
            <a:pPr indent="0" marL="0">
              <a:buNone/>
            </a:pPr>
            <a:r>
              <a:rPr lang="en-US" sz="1400" dirty="0">
                <a:solidFill>
                  <a:srgbClr val="333333"/>
                </a:solidFill>
              </a:rPr>
              <a:t>• Law Enforcement
</a:t>
            </a:r>
            <a:pPr indent="0" marL="0">
              <a:buNone/>
            </a:pPr>
            <a:r>
              <a:rPr lang="en-US" sz="1400" dirty="0">
                <a:solidFill>
                  <a:srgbClr val="333333"/>
                </a:solidFill>
              </a:rPr>
              <a:t>• Access Control
</a:t>
            </a:r>
            <a:pPr indent="0" marL="0">
              <a:buNone/>
            </a:pPr>
            <a:r>
              <a:rPr lang="en-US" sz="1400" dirty="0">
                <a:solidFill>
                  <a:srgbClr val="333333"/>
                </a:solidFill>
              </a:rPr>
              <a:t>• Vehicle Tracking</a:t>
            </a:r>
            <a:endParaRPr lang="en-US" sz="1400" dirty="0"/>
          </a:p>
        </p:txBody>
      </p:sp>
      <p:sp>
        <p:nvSpPr>
          <p:cNvPr id="6" name="Text 4"/>
          <p:cNvSpPr/>
          <p:nvPr/>
        </p:nvSpPr>
        <p:spPr>
          <a:xfrm>
            <a:off x="4754880" y="1463040"/>
            <a:ext cx="3657600" cy="365760"/>
          </a:xfrm>
          <a:prstGeom prst="rect">
            <a:avLst/>
          </a:prstGeom>
          <a:noFill/>
          <a:ln/>
        </p:spPr>
        <p:txBody>
          <a:bodyPr wrap="square" rtlCol="0" anchor="ctr"/>
          <a:lstStyle/>
          <a:p>
            <a:pPr indent="0" marL="0">
              <a:buNone/>
            </a:pPr>
            <a:r>
              <a:rPr lang="en-US" sz="2000" b="1" dirty="0">
                <a:solidFill>
                  <a:srgbClr val="2E5C8A"/>
                </a:solidFill>
              </a:rPr>
              <a:t>Future Enhancements:</a:t>
            </a:r>
            <a:endParaRPr lang="en-US" sz="2000" dirty="0"/>
          </a:p>
        </p:txBody>
      </p:sp>
      <p:sp>
        <p:nvSpPr>
          <p:cNvPr id="7" name="Text 5"/>
          <p:cNvSpPr/>
          <p:nvPr/>
        </p:nvSpPr>
        <p:spPr>
          <a:xfrm>
            <a:off x="4937760" y="1920240"/>
            <a:ext cx="3657600" cy="2286000"/>
          </a:xfrm>
          <a:prstGeom prst="rect">
            <a:avLst/>
          </a:prstGeom>
          <a:noFill/>
          <a:ln/>
        </p:spPr>
        <p:txBody>
          <a:bodyPr wrap="square" rtlCol="0" anchor="t"/>
          <a:lstStyle/>
          <a:p>
            <a:pPr indent="0" marL="0">
              <a:buNone/>
            </a:pPr>
            <a:r>
              <a:rPr lang="en-US" sz="1400" dirty="0">
                <a:solidFill>
                  <a:srgbClr val="333333"/>
                </a:solidFill>
              </a:rPr>
              <a:t>• Multi-country plate recognition
</a:t>
            </a:r>
            <a:pPr indent="0" marL="0">
              <a:buNone/>
            </a:pPr>
            <a:r>
              <a:rPr lang="en-US" sz="1400" dirty="0">
                <a:solidFill>
                  <a:srgbClr val="333333"/>
                </a:solidFill>
              </a:rPr>
              <a:t>• Night vision capabilities
</a:t>
            </a:r>
            <a:pPr indent="0" marL="0">
              <a:buNone/>
            </a:pPr>
            <a:r>
              <a:rPr lang="en-US" sz="1400" dirty="0">
                <a:solidFill>
                  <a:srgbClr val="333333"/>
                </a:solidFill>
              </a:rPr>
              <a:t>• Mobile app integration
</a:t>
            </a:r>
            <a:pPr indent="0" marL="0">
              <a:buNone/>
            </a:pPr>
            <a:r>
              <a:rPr lang="en-US" sz="1400" dirty="0">
                <a:solidFill>
                  <a:srgbClr val="333333"/>
                </a:solidFill>
              </a:rPr>
              <a:t>• Cloud-based processing
</a:t>
            </a:r>
            <a:pPr indent="0" marL="0">
              <a:buNone/>
            </a:pPr>
            <a:r>
              <a:rPr lang="en-US" sz="1400" dirty="0">
                <a:solidFill>
                  <a:srgbClr val="333333"/>
                </a:solidFill>
              </a:rPr>
              <a:t>• AI-powered analytics
</a:t>
            </a:r>
            <a:pPr indent="0" marL="0">
              <a:buNone/>
            </a:pPr>
            <a:r>
              <a:rPr lang="en-US" sz="1400" dirty="0">
                <a:solidFill>
                  <a:srgbClr val="333333"/>
                </a:solidFill>
              </a:rPr>
              <a:t>• Edge computing deployment
</a:t>
            </a:r>
            <a:pPr indent="0" marL="0">
              <a:buNone/>
            </a:pPr>
            <a:r>
              <a:rPr lang="en-US" sz="1400" dirty="0">
                <a:solidFill>
                  <a:srgbClr val="333333"/>
                </a:solidFill>
              </a:rPr>
              <a:t>• Integration with IoT devices</a:t>
            </a:r>
            <a:endParaRPr lang="en-US" sz="1400" dirty="0"/>
          </a:p>
        </p:txBody>
      </p:sp>
      <p:sp>
        <p:nvSpPr>
          <p:cNvPr id="8" name="Shape 6"/>
          <p:cNvSpPr/>
          <p:nvPr/>
        </p:nvSpPr>
        <p:spPr>
          <a:xfrm>
            <a:off x="731520" y="4389120"/>
            <a:ext cx="7680960" cy="45720"/>
          </a:xfrm>
          <a:prstGeom prst="rect">
            <a:avLst/>
          </a:prstGeom>
          <a:solidFill>
            <a:srgbClr val="F39C12"/>
          </a:solidFill>
          <a:ln/>
        </p:spPr>
      </p:sp>
      <p:sp>
        <p:nvSpPr>
          <p:cNvPr id="9" name="Text 7"/>
          <p:cNvSpPr/>
          <p:nvPr/>
        </p:nvSpPr>
        <p:spPr>
          <a:xfrm>
            <a:off x="731520" y="4572000"/>
            <a:ext cx="7772400" cy="274320"/>
          </a:xfrm>
          <a:prstGeom prst="rect">
            <a:avLst/>
          </a:prstGeom>
          <a:noFill/>
          <a:ln/>
        </p:spPr>
        <p:txBody>
          <a:bodyPr wrap="square" rtlCol="0" anchor="ctr"/>
          <a:lstStyle/>
          <a:p>
            <a:pPr indent="0" marL="0">
              <a:buNone/>
            </a:pPr>
            <a:r>
              <a:rPr lang="en-US" sz="1800" b="1" dirty="0">
                <a:solidFill>
                  <a:srgbClr val="2E5C8A"/>
                </a:solidFill>
              </a:rPr>
              <a:t>Benefits:</a:t>
            </a:r>
            <a:endParaRPr lang="en-US" sz="1800" dirty="0"/>
          </a:p>
        </p:txBody>
      </p:sp>
      <p:sp>
        <p:nvSpPr>
          <p:cNvPr id="10" name="Text 8"/>
          <p:cNvSpPr/>
          <p:nvPr/>
        </p:nvSpPr>
        <p:spPr>
          <a:xfrm>
            <a:off x="731520" y="4937760"/>
            <a:ext cx="7772400" cy="457200"/>
          </a:xfrm>
          <a:prstGeom prst="rect">
            <a:avLst/>
          </a:prstGeom>
          <a:noFill/>
          <a:ln/>
        </p:spPr>
        <p:txBody>
          <a:bodyPr wrap="square" rtlCol="0" anchor="ctr"/>
          <a:lstStyle/>
          <a:p>
            <a:pPr algn="ctr" indent="0" marL="0">
              <a:buNone/>
            </a:pPr>
            <a:r>
              <a:rPr lang="en-US" sz="1400" dirty="0">
                <a:solidFill>
                  <a:srgbClr val="333333"/>
                </a:solidFill>
              </a:rPr>
              <a:t>Automated monitoring • Reduced manual effort • Improved security • Cost-effective • Scalable solution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indent="0" marL="0">
              <a:buNone/>
            </a:pPr>
            <a:r>
              <a:rPr lang="en-US" sz="3600" b="1" dirty="0">
                <a:solidFill>
                  <a:srgbClr val="1F4788"/>
                </a:solidFill>
              </a:rPr>
              <a:t>Conclusion &amp; Acknowledgement</a:t>
            </a:r>
            <a:endParaRPr lang="en-US" sz="3600" dirty="0"/>
          </a:p>
        </p:txBody>
      </p:sp>
      <p:sp>
        <p:nvSpPr>
          <p:cNvPr id="3" name="Shape 1"/>
          <p:cNvSpPr/>
          <p:nvPr/>
        </p:nvSpPr>
        <p:spPr>
          <a:xfrm>
            <a:off x="457200" y="1097280"/>
            <a:ext cx="8229600" cy="45720"/>
          </a:xfrm>
          <a:prstGeom prst="rect">
            <a:avLst/>
          </a:prstGeom>
          <a:solidFill>
            <a:srgbClr val="F39C12"/>
          </a:solidFill>
          <a:ln/>
        </p:spPr>
      </p:sp>
      <p:sp>
        <p:nvSpPr>
          <p:cNvPr id="4" name="Text 2"/>
          <p:cNvSpPr/>
          <p:nvPr/>
        </p:nvSpPr>
        <p:spPr>
          <a:xfrm>
            <a:off x="731520" y="1463040"/>
            <a:ext cx="7772400" cy="365760"/>
          </a:xfrm>
          <a:prstGeom prst="rect">
            <a:avLst/>
          </a:prstGeom>
          <a:noFill/>
          <a:ln/>
        </p:spPr>
        <p:txBody>
          <a:bodyPr wrap="square" rtlCol="0" anchor="ctr"/>
          <a:lstStyle/>
          <a:p>
            <a:pPr indent="0" marL="0">
              <a:buNone/>
            </a:pPr>
            <a:r>
              <a:rPr lang="en-US" sz="2200" b="1" dirty="0">
                <a:solidFill>
                  <a:srgbClr val="2E5C8A"/>
                </a:solidFill>
              </a:rPr>
              <a:t>Conclusion:</a:t>
            </a:r>
            <a:endParaRPr lang="en-US" sz="2200" dirty="0"/>
          </a:p>
        </p:txBody>
      </p:sp>
      <p:sp>
        <p:nvSpPr>
          <p:cNvPr id="5" name="Text 3"/>
          <p:cNvSpPr/>
          <p:nvPr/>
        </p:nvSpPr>
        <p:spPr>
          <a:xfrm>
            <a:off x="914400" y="1920240"/>
            <a:ext cx="7498080" cy="2011680"/>
          </a:xfrm>
          <a:prstGeom prst="rect">
            <a:avLst/>
          </a:prstGeom>
          <a:noFill/>
          <a:ln/>
        </p:spPr>
        <p:txBody>
          <a:bodyPr wrap="square" rtlCol="0" anchor="t"/>
          <a:lstStyle/>
          <a:p>
            <a:pPr indent="0" marL="0">
              <a:buNone/>
            </a:pPr>
            <a:r>
              <a:rPr lang="en-US" sz="1600" dirty="0">
                <a:solidFill>
                  <a:srgbClr val="333333"/>
                </a:solidFill>
              </a:rPr>
              <a:t>• Successfully developed an automated vehicle registration plate detection system
</a:t>
            </a:r>
            <a:pPr indent="0" marL="0">
              <a:buNone/>
            </a:pPr>
            <a:r>
              <a:rPr lang="en-US" sz="1600" dirty="0">
                <a:solidFill>
                  <a:srgbClr val="333333"/>
                </a:solidFill>
              </a:rPr>
              <a:t>• Achieved high accuracy in real-time plate detection and character recognition
</a:t>
            </a:r>
            <a:pPr indent="0" marL="0">
              <a:buNone/>
            </a:pPr>
            <a:r>
              <a:rPr lang="en-US" sz="1600" dirty="0">
                <a:solidFill>
                  <a:srgbClr val="333333"/>
                </a:solidFill>
              </a:rPr>
              <a:t>• System demonstrates practical applicability in traffic management and security
</a:t>
            </a:r>
            <a:pPr indent="0" marL="0">
              <a:buNone/>
            </a:pPr>
            <a:r>
              <a:rPr lang="en-US" sz="1600" dirty="0">
                <a:solidFill>
                  <a:srgbClr val="333333"/>
                </a:solidFill>
              </a:rPr>
              <a:t>• Scalable architecture allows for future enhancements and integrations</a:t>
            </a:r>
            <a:endParaRPr lang="en-US" sz="1600" dirty="0"/>
          </a:p>
        </p:txBody>
      </p:sp>
      <p:sp>
        <p:nvSpPr>
          <p:cNvPr id="6" name="Shape 4"/>
          <p:cNvSpPr/>
          <p:nvPr/>
        </p:nvSpPr>
        <p:spPr>
          <a:xfrm>
            <a:off x="731520" y="4114800"/>
            <a:ext cx="7680960" cy="45720"/>
          </a:xfrm>
          <a:prstGeom prst="rect">
            <a:avLst/>
          </a:prstGeom>
          <a:solidFill>
            <a:srgbClr val="F39C12"/>
          </a:solidFill>
          <a:ln/>
        </p:spPr>
      </p:sp>
      <p:sp>
        <p:nvSpPr>
          <p:cNvPr id="7" name="Text 5"/>
          <p:cNvSpPr/>
          <p:nvPr/>
        </p:nvSpPr>
        <p:spPr>
          <a:xfrm>
            <a:off x="731520" y="4297680"/>
            <a:ext cx="7772400" cy="365760"/>
          </a:xfrm>
          <a:prstGeom prst="rect">
            <a:avLst/>
          </a:prstGeom>
          <a:noFill/>
          <a:ln/>
        </p:spPr>
        <p:txBody>
          <a:bodyPr wrap="square" rtlCol="0" anchor="ctr"/>
          <a:lstStyle/>
          <a:p>
            <a:pPr indent="0" marL="0">
              <a:buNone/>
            </a:pPr>
            <a:r>
              <a:rPr lang="en-US" sz="2200" b="1" dirty="0">
                <a:solidFill>
                  <a:srgbClr val="2E5C8A"/>
                </a:solidFill>
              </a:rPr>
              <a:t>Acknowledgement:</a:t>
            </a:r>
            <a:endParaRPr lang="en-US" sz="2200" dirty="0"/>
          </a:p>
        </p:txBody>
      </p:sp>
      <p:sp>
        <p:nvSpPr>
          <p:cNvPr id="8" name="Text 6"/>
          <p:cNvSpPr/>
          <p:nvPr/>
        </p:nvSpPr>
        <p:spPr>
          <a:xfrm>
            <a:off x="914400" y="4754880"/>
            <a:ext cx="7498080" cy="1097280"/>
          </a:xfrm>
          <a:prstGeom prst="rect">
            <a:avLst/>
          </a:prstGeom>
          <a:noFill/>
          <a:ln/>
        </p:spPr>
        <p:txBody>
          <a:bodyPr wrap="square" rtlCol="0" anchor="ctr"/>
          <a:lstStyle/>
          <a:p>
            <a:pPr algn="just" indent="0" marL="0">
              <a:buNone/>
            </a:pPr>
            <a:r>
              <a:rPr lang="en-US" sz="1500" dirty="0">
                <a:solidFill>
                  <a:srgbClr val="333333"/>
                </a:solidFill>
              </a:rPr>
              <a:t>We would like to express our sincere gratitude to Oriental College of Technology and the Department of Data Science for providing us with the opportunity and resources to work on this project. Special thanks to our faculty advisors and mentors for their valuable guidance and support throughout the development process.</a:t>
            </a:r>
            <a:endParaRPr lang="en-US" sz="1500" dirty="0"/>
          </a:p>
        </p:txBody>
      </p:sp>
      <p:sp>
        <p:nvSpPr>
          <p:cNvPr id="9" name="Shape 7"/>
          <p:cNvSpPr/>
          <p:nvPr/>
        </p:nvSpPr>
        <p:spPr>
          <a:xfrm>
            <a:off x="2743200" y="5943600"/>
            <a:ext cx="3657600" cy="548640"/>
          </a:xfrm>
          <a:prstGeom prst="roundRect">
            <a:avLst/>
          </a:prstGeom>
          <a:solidFill>
            <a:srgbClr val="1F4788"/>
          </a:solidFill>
          <a:ln/>
        </p:spPr>
      </p:sp>
      <p:sp>
        <p:nvSpPr>
          <p:cNvPr id="10" name="Text 8"/>
          <p:cNvSpPr/>
          <p:nvPr/>
        </p:nvSpPr>
        <p:spPr>
          <a:xfrm>
            <a:off x="2743200" y="6035040"/>
            <a:ext cx="3657600" cy="365760"/>
          </a:xfrm>
          <a:prstGeom prst="rect">
            <a:avLst/>
          </a:prstGeom>
          <a:noFill/>
          <a:ln/>
        </p:spPr>
        <p:txBody>
          <a:bodyPr wrap="square" rtlCol="0" anchor="ctr"/>
          <a:lstStyle/>
          <a:p>
            <a:pPr algn="ctr" indent="0" marL="0">
              <a:buNone/>
            </a:pPr>
            <a:r>
              <a:rPr lang="en-US" sz="2400" b="1" dirty="0">
                <a:solidFill>
                  <a:srgbClr val="FFFFFF"/>
                </a:solidFill>
              </a:rPr>
              <a:t>Thank You!</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Moving Vehicle Registration Plate Detection</dc:title>
  <dc:subject>Data Science Project</dc:subject>
  <dc:creator>Yusra Siddiqui, Aman Meena, Vineet Bimal, Farah Khatoon</dc:creator>
  <cp:lastModifiedBy>Yusra Siddiqui, Aman Meena, Vineet Bimal, Farah Khatoon</cp:lastModifiedBy>
  <cp:revision>1</cp:revision>
  <dcterms:created xsi:type="dcterms:W3CDTF">2025-11-17T04:40:39Z</dcterms:created>
  <dcterms:modified xsi:type="dcterms:W3CDTF">2025-11-17T04:40:39Z</dcterms:modified>
</cp:coreProperties>
</file>